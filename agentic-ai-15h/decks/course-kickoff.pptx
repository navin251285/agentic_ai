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first teaching session. The course is one fifteen-hour path: thirty-eight lessons in six chapters, from a first model call to a service that survives failures. Everything in this deck comes from the approved syllabus. We will meet one running example, the Brightside Outfitters support desk, and see a short preview of code. The first real lesson is lesson 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agent demos ask a model one question and show one good answer. Real agents take actions: they look up orders, issue refunds and read text written by strangers. Three problems appear as soon as an agent does real work. A change can make it worse without anyone noticing, so it needs tests. A loop can run up a bill, so it needs caps. A ticket can contain instructions that try to hijack the agent, so it needs safety limits. The course teaches all three from the first chapter on, using one support desk that grows.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new support hire on day one. They get a manual of rules, a desk with a login, and one firm rule: refunds need a manager's yes. They work through tickets one step at a time, looking things up before they answer. That is close to an agent: a model with instructions, tools and a loop. Where the comparison breaks: a hire learns and remembers across shifts, while a model forgets everything between calls unless your code sends the history again. Keep that difference in mind for chapters 2 and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you will have built one support desk that does four things. It acts through tools: it looks up an order and calls your own functions, inside rules you set. It answers from documents: it finds the returns policy and cites the section. It remembers the right facts and deletes them when asked. And it runs as a web service that retries safely and recovers from a crash. The last chapters add enterprise practice: evals in CI, tracing, security, durable runs and cost control. Those are the topics a developer interview asks about.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course's definition, which matches Anthropic's essay Building Effective Agents (19 December 2024): an agent is an LLM, a language model, using tools based on environmental feedback in a loop. Name four parts. The model reads the goal and the results and chooses the next step. Tools are ordinary functions your code runs. Instructions are the system prompt that sets the role and the rules. The loop repeats act, read, repeat until the task is done or a cap stops it. Lesson 01 defines this and separates an agent from a fixed workflow.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preview, not a lesson. It was written for this deck from the support desk example, and lesson 07 writes tools properly. Read it top to bottom: a dictionary stands in for the order system, the function looks one order up and returns its status, and the two prints show a found order and a missing one. The key idea is that the model never runs this function itself. It asks for it by name, your code runs it, and the answer goes back to the model. Lesson 05 shows that round trip on three vendor formats.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is the same support desk, shown as a local web page with a chat box. After chapter 2 it can look up orders. After chapter 4 it answers policy questions with citations, remembers customers, and asks a person before a refund goes through. After chapter 5 it shows traces, which are records of each step, plus a cost meter and tenants: one tenant is one customer or organisation whose data must stay apart. After chapter 6 one run command starts it, with tests and a README. The app lives in its own folder, so the notebooks stand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1 and 2 are Basic: ten lessons, about 3.7 hours, ending with the order-lookup assistant. Chapters 3 and 4 are Intermediate: thirteen lessons, about 4.9 hours, with memory, retrieval and a graph. Chapters 5 and 6 are Advanced: fifteen lessons, about 6.4 hours, on production and enterprise practice. Each row's time adds up the lesson estimates, and the syllabus rounds the levels to 4, 5 and 6 hours. Words you will meet: LangGraph runs an agent as a graph with saved state; MCP, the Model Context Protocol, is a standard way to plug tools in; evals are tests that score agent runs; Temporal resumes long runs after a crash; A2A lets one agent call another.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lesson is a notebook of about 15 to 45 minutes; most are around 20. Start with why it matters: the problem you would have without this idea, made concrete. Then the idea in plain words with a picture, and the exact concept. Then step by step: you run the cells and read the output, which was recorded when the lesson was built. Model calls are recorded once and replayed, so you can run them without a key where the lesson allows it. Then Try it, an exercise whose answer sits in a hidden cell. Core lessons end with an Interview line: how a developer interview asks about the idea.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Basic is chapters 1 and 2: ten lessons, from the first model call through tools, caps and a first eval, to the order-lookup assistant. Intermediate is chapters 3 and 4: thirteen lessons on workflows, memory, retrieval and the graph, ending with the support desk that asks a person before a refund. Advanced is chapters 5 and 6: fifteen lessons on multi-agent systems, protocols, evals in CI, security, reliability, cost, serving and durable runs, ending with a production service. Hours are the sum of each lesson's estimate, rounded the way the syllabus rounds them. Each level stands on the one before.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four things. Python 3.12 is the language of every lesson and the app, so you should be able to write small functions and call a web API. Docker runs some services in sealed containers; the syllabus lists it for lessons 34, 35 and 37. Most model lessons use a Gemini API key, or a Vertex AI project. Lessons 05 and 20 use the Anthropic and OpenAI APIs and replay recorded answers by default, so they need no key. Ollama, which runs a small free model on your own machine, is optional for lesson 03. Copy the template to a file named .env and fill in only what you choose. The course asks which option you want just before the lesson that needs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comes three ways. First, six checkpoints marked with a star: lessons 05, 10, 18, 23, 31 and 37. Each is a runnable project for its chapter, so you finish a chapter with something that works. Second, golden tests: lesson 08 starts a set of thirty support tasks, each with an expected end state, and a pytest scores a scripted agent with no model needed; lesson 28 puts that set into CI so a worse change fails the build. Third, each core lesson ends with an Interview line you can say aloud. The capstone in lesson 37 is the evidence that brings it together.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 hold on to. An agent is a model that uses tools in a loop. A tool is an ordinary function your code runs when the model asks for it. A token is a small chunk of text that models read and bill by; a context window is the most text one call can hold, input and output together. RAG stands for retrieval-augmented generation: the program first finds the right documents, then the model answers from them with citations. MCP, the Model Context Protocol, is one standard way for an agent to reach tools. Each lesson defines its terms exactly the first time it uses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you should be able to answer by the end. First, workflow or agent: which fits a task, and why most tasks start as a workflow. Second, refunds: what stops a refund being paid twice; the answer is idempotency, lesson 32, where a repeated request has the same effect as one. Third, evaluation: how you know a change made the agent worse, from lessons 08 and 28. Fourth, security: what a malicious ticket can make your agent do, lesson 30. Fifth, cost: what one ticket costs and how you cap it, lessons 06 and 33.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ightning Bolt 4"/>
          <p:cNvSpPr/>
          <p:nvPr/>
        </p:nvSpPr>
        <p:spPr>
          <a:xfrm>
            <a:off x="1028700" y="1668780"/>
            <a:ext cx="411480" cy="411480"/>
          </a:xfrm>
          <a:prstGeom prst="lightningBol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Agentic AI: hello world to enterprise</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4F46E5"/>
                </a:solidFill>
                <a:latin typeface="Calibri"/>
              </a:rPr>
              <a:t>Course kickoff · 38 lessons · about 15 hours</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Developers who can write a little Python and call a web API</a:t>
            </a:r>
          </a:p>
        </p:txBody>
      </p:sp>
      <p:cxnSp>
        <p:nvCxnSpPr>
          <p:cNvPr id="9" name="Connector 8"/>
          <p:cNvCxnSpPr/>
          <p:nvPr/>
        </p:nvCxnSpPr>
        <p:spPr>
          <a:xfrm flipH="1" flipV="1">
            <a:off x="8686800" y="1188719"/>
            <a:ext cx="1371600" cy="91440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Most agent demos stop after one answer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2103120"/>
            <a:ext cx="10908792" cy="274320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88720" y="2834640"/>
            <a:ext cx="1280160" cy="12801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ightning Bolt 6"/>
          <p:cNvSpPr/>
          <p:nvPr/>
        </p:nvSpPr>
        <p:spPr>
          <a:xfrm>
            <a:off x="1508760" y="3154680"/>
            <a:ext cx="640080" cy="640080"/>
          </a:xfrm>
          <a:prstGeom prst="lightningBol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286000"/>
            <a:ext cx="8229600" cy="2377440"/>
          </a:xfrm>
          <a:prstGeom prst="rect">
            <a:avLst/>
          </a:prstGeom>
          <a:noFill/>
        </p:spPr>
        <p:txBody>
          <a:bodyPr wrap="square" lIns="0" rIns="0" tIns="0" bIns="0" anchor="ctr">
            <a:spAutoFit/>
          </a:bodyPr>
          <a:lstStyle/>
          <a:p>
            <a:pPr algn="l"/>
            <a:r>
              <a:rPr sz="3200" b="1" i="0">
                <a:solidFill>
                  <a:srgbClr val="1F2933"/>
                </a:solidFill>
                <a:latin typeface="Calibri"/>
              </a:rPr>
              <a:t>A real agent acts, so it must be tested, capped and kept safe.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Think of an agent as a new support hire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new support hire</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manual, a login, one rule: refunds need a manager's yes.</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An agent</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model with instructions and tools, run in a loop.</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model forgets between calls unless your code resends its history.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Build a safe support desk by the end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Callout 6"/>
          <p:cNvSpPr/>
          <p:nvPr/>
        </p:nvSpPr>
        <p:spPr>
          <a:xfrm>
            <a:off x="1200150" y="2388870"/>
            <a:ext cx="388620" cy="38862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Act with tools</a:t>
            </a:r>
          </a:p>
        </p:txBody>
      </p:sp>
      <p:sp>
        <p:nvSpPr>
          <p:cNvPr id="9" name="TextBox 8"/>
          <p:cNvSpPr txBox="1"/>
          <p:nvPr/>
        </p:nvSpPr>
        <p:spPr>
          <a:xfrm>
            <a:off x="1005840"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Look up orders and run functions safely.</a:t>
            </a:r>
          </a:p>
        </p:txBody>
      </p:sp>
      <p:sp>
        <p:nvSpPr>
          <p:cNvPr id="10" name="Rounded Rectangle 9"/>
          <p:cNvSpPr/>
          <p:nvPr/>
        </p:nvSpPr>
        <p:spPr>
          <a:xfrm>
            <a:off x="3447287"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813048"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cument 11"/>
          <p:cNvSpPr/>
          <p:nvPr/>
        </p:nvSpPr>
        <p:spPr>
          <a:xfrm>
            <a:off x="4007358" y="2388870"/>
            <a:ext cx="388620" cy="388620"/>
          </a:xfrm>
          <a:prstGeom prst="flowChartDocumen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13048"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Answer from documents</a:t>
            </a:r>
          </a:p>
        </p:txBody>
      </p:sp>
      <p:sp>
        <p:nvSpPr>
          <p:cNvPr id="14" name="TextBox 13"/>
          <p:cNvSpPr txBox="1"/>
          <p:nvPr/>
        </p:nvSpPr>
        <p:spPr>
          <a:xfrm>
            <a:off x="3813048"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Find the policy and cite its section.</a:t>
            </a:r>
          </a:p>
        </p:txBody>
      </p:sp>
      <p:sp>
        <p:nvSpPr>
          <p:cNvPr id="15" name="Rounded Rectangle 14"/>
          <p:cNvSpPr/>
          <p:nvPr/>
        </p:nvSpPr>
        <p:spPr>
          <a:xfrm>
            <a:off x="6254496"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0256"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n 16"/>
          <p:cNvSpPr/>
          <p:nvPr/>
        </p:nvSpPr>
        <p:spPr>
          <a:xfrm>
            <a:off x="6814566" y="2388870"/>
            <a:ext cx="388620" cy="388620"/>
          </a:xfrm>
          <a:prstGeom prst="can">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0256"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Remember what matters</a:t>
            </a:r>
          </a:p>
        </p:txBody>
      </p:sp>
      <p:sp>
        <p:nvSpPr>
          <p:cNvPr id="19" name="TextBox 18"/>
          <p:cNvSpPr txBox="1"/>
          <p:nvPr/>
        </p:nvSpPr>
        <p:spPr>
          <a:xfrm>
            <a:off x="6620256"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Keep useful facts; delete on request.</a:t>
            </a:r>
          </a:p>
        </p:txBody>
      </p:sp>
      <p:sp>
        <p:nvSpPr>
          <p:cNvPr id="20" name="Rounded Rectangle 19"/>
          <p:cNvSpPr/>
          <p:nvPr/>
        </p:nvSpPr>
        <p:spPr>
          <a:xfrm>
            <a:off x="9061703"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27463"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loud 21"/>
          <p:cNvSpPr/>
          <p:nvPr/>
        </p:nvSpPr>
        <p:spPr>
          <a:xfrm>
            <a:off x="9621774" y="2388870"/>
            <a:ext cx="388620" cy="388620"/>
          </a:xfrm>
          <a:prstGeom prst="cloud">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7463"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Run as a service</a:t>
            </a:r>
          </a:p>
        </p:txBody>
      </p:sp>
      <p:sp>
        <p:nvSpPr>
          <p:cNvPr id="24" name="TextBox 23"/>
          <p:cNvSpPr txBox="1"/>
          <p:nvPr/>
        </p:nvSpPr>
        <p:spPr>
          <a:xfrm>
            <a:off x="9427463"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Retry safely, survive crashes, report cost.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An agent: a model using tools in a loop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An agent is a language model using tools on feedback, in a loop, until the task is done.</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Model</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Reads the goal and results; picks the next step.</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Tools</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Functions your code runs, like order lookup.</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Instructions</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system prompt: role, rules, limits.</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Loop</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Act, read the result, repeat, within caps.</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Where is my order? The model calls lookup_order, reads 'shipped', then answers.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Preview: a tool is a plain Python function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554480"/>
            <a:ext cx="7315200" cy="2915107"/>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333548"/>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948025"/>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640787"/>
          </a:xfrm>
          <a:prstGeom prst="rect">
            <a:avLst/>
          </a:prstGeom>
          <a:noFill/>
        </p:spPr>
        <p:txBody>
          <a:bodyPr wrap="none" lIns="0" rIns="0" tIns="0" bIns="0">
            <a:noAutofit/>
          </a:bodyPr>
          <a:lstStyle/>
          <a:p>
            <a:pPr algn="l">
              <a:lnSpc>
                <a:spcPct val="112000"/>
              </a:lnSpc>
            </a:pPr>
            <a:r>
              <a:rPr sz="1800" b="0" i="0">
                <a:solidFill>
                  <a:srgbClr val="1F2933"/>
                </a:solidFill>
                <a:latin typeface="Consolas"/>
              </a:rPr>
              <a:t>ORDERS = {</a:t>
            </a:r>
            <a:r>
              <a:rPr sz="1800" b="0" i="0">
                <a:solidFill>
                  <a:srgbClr val="B45309"/>
                </a:solidFill>
                <a:latin typeface="Consolas"/>
              </a:rPr>
              <a:t>"BS-1001"</a:t>
            </a:r>
            <a:r>
              <a:rPr sz="1800" b="0" i="0">
                <a:solidFill>
                  <a:srgbClr val="1F2933"/>
                </a:solidFill>
                <a:latin typeface="Consolas"/>
              </a:rPr>
              <a:t>: </a:t>
            </a:r>
            <a:r>
              <a:rPr sz="1800" b="0" i="0">
                <a:solidFill>
                  <a:srgbClr val="B45309"/>
                </a:solidFill>
                <a:latin typeface="Consolas"/>
              </a:rPr>
              <a:t>"shipped, arrives Friday"</a:t>
            </a:r>
            <a:r>
              <a:rPr sz="1800" b="0" i="0">
                <a:solidFill>
                  <a:srgbClr val="1F2933"/>
                </a:solidFill>
                <a:latin typeface="Consolas"/>
              </a:rPr>
              <a:t>}</a:t>
            </a:r>
          </a:p>
          <a:p>
            <a:pPr algn="l">
              <a:lnSpc>
                <a:spcPct val="112000"/>
              </a:lnSpc>
            </a:pPr>
            <a:r>
              <a:rPr sz="1800" b="0" i="0">
                <a:solidFill>
                  <a:srgbClr val="1F2933"/>
                </a:solidFill>
                <a:latin typeface="Consolas"/>
              </a:rPr>
              <a:t> </a:t>
            </a:r>
          </a:p>
          <a:p>
            <a:pPr algn="l">
              <a:lnSpc>
                <a:spcPct val="112000"/>
              </a:lnSpc>
            </a:pPr>
            <a:r>
              <a:rPr sz="1800" b="1" i="0">
                <a:solidFill>
                  <a:srgbClr val="4F46E5"/>
                </a:solidFill>
                <a:latin typeface="Consolas"/>
              </a:rPr>
              <a:t>def</a:t>
            </a:r>
            <a:r>
              <a:rPr sz="1800" b="0" i="0">
                <a:solidFill>
                  <a:srgbClr val="1F2933"/>
                </a:solidFill>
                <a:latin typeface="Consolas"/>
              </a:rPr>
              <a:t> </a:t>
            </a:r>
            <a:r>
              <a:rPr sz="1800" b="1" i="0">
                <a:solidFill>
                  <a:srgbClr val="1F2933"/>
                </a:solidFill>
                <a:latin typeface="Consolas"/>
              </a:rPr>
              <a:t>lookup_order</a:t>
            </a:r>
            <a:r>
              <a:rPr sz="1800" b="0" i="0">
                <a:solidFill>
                  <a:srgbClr val="1F2933"/>
                </a:solidFill>
                <a:latin typeface="Consolas"/>
              </a:rPr>
              <a:t>(order_id: </a:t>
            </a:r>
            <a:r>
              <a:rPr sz="1800" b="0" i="0">
                <a:solidFill>
                  <a:srgbClr val="0E7490"/>
                </a:solidFill>
                <a:latin typeface="Consolas"/>
              </a:rPr>
              <a:t>str</a:t>
            </a:r>
            <a:r>
              <a:rPr sz="1800" b="0" i="0">
                <a:solidFill>
                  <a:srgbClr val="1F2933"/>
                </a:solidFill>
                <a:latin typeface="Consolas"/>
              </a:rPr>
              <a:t>) -&gt; </a:t>
            </a:r>
            <a:r>
              <a:rPr sz="1800" b="0" i="0">
                <a:solidFill>
                  <a:srgbClr val="0E7490"/>
                </a:solidFill>
                <a:latin typeface="Consolas"/>
              </a:rPr>
              <a:t>str</a:t>
            </a:r>
            <a:r>
              <a:rPr sz="1800" b="0" i="0">
                <a:solidFill>
                  <a:srgbClr val="1F2933"/>
                </a:solidFill>
                <a:latin typeface="Consolas"/>
              </a:rPr>
              <a:t>:</a:t>
            </a:r>
          </a:p>
          <a:p>
            <a:pPr algn="l">
              <a:lnSpc>
                <a:spcPct val="112000"/>
              </a:lnSpc>
            </a:pPr>
            <a:r>
              <a:rPr sz="1800" b="0" i="0">
                <a:solidFill>
                  <a:srgbClr val="1F2933"/>
                </a:solidFill>
                <a:latin typeface="Consolas"/>
              </a:rPr>
              <a:t>    </a:t>
            </a:r>
            <a:r>
              <a:rPr sz="1800" b="0" i="0">
                <a:solidFill>
                  <a:srgbClr val="B45309"/>
                </a:solidFill>
                <a:latin typeface="Consolas"/>
              </a:rPr>
              <a:t>"""Return the status of one order."""</a:t>
            </a:r>
          </a:p>
          <a:p>
            <a:pPr algn="l">
              <a:lnSpc>
                <a:spcPct val="112000"/>
              </a:lnSpc>
            </a:pPr>
            <a:r>
              <a:rPr sz="1800" b="0" i="0">
                <a:solidFill>
                  <a:srgbClr val="1F2933"/>
                </a:solidFill>
                <a:latin typeface="Consolas"/>
              </a:rPr>
              <a:t>    </a:t>
            </a:r>
            <a:r>
              <a:rPr sz="1800" b="1" i="0">
                <a:solidFill>
                  <a:srgbClr val="4F46E5"/>
                </a:solidFill>
                <a:latin typeface="Consolas"/>
              </a:rPr>
              <a:t>return</a:t>
            </a:r>
            <a:r>
              <a:rPr sz="1800" b="0" i="0">
                <a:solidFill>
                  <a:srgbClr val="1F2933"/>
                </a:solidFill>
                <a:latin typeface="Consolas"/>
              </a:rPr>
              <a:t> ORDERS.get(order_id, </a:t>
            </a:r>
            <a:r>
              <a:rPr sz="1800" b="0" i="0">
                <a:solidFill>
                  <a:srgbClr val="B45309"/>
                </a:solidFill>
                <a:latin typeface="Consolas"/>
              </a:rPr>
              <a:t>"no such order"</a:t>
            </a:r>
            <a:r>
              <a:rPr sz="1800" b="0" i="0">
                <a:solidFill>
                  <a:srgbClr val="1F2933"/>
                </a:solidFill>
                <a:latin typeface="Consolas"/>
              </a:rPr>
              <a:t>)</a:t>
            </a:r>
          </a:p>
          <a:p>
            <a:pPr algn="l">
              <a:lnSpc>
                <a:spcPct val="112000"/>
              </a:lnSpc>
            </a:pPr>
            <a:r>
              <a:rPr sz="1800" b="0" i="0">
                <a:solidFill>
                  <a:srgbClr val="1F2933"/>
                </a:solidFill>
                <a:latin typeface="Consolas"/>
              </a:rPr>
              <a:t> </a:t>
            </a:r>
          </a:p>
          <a:p>
            <a:pPr algn="l">
              <a:lnSpc>
                <a:spcPct val="112000"/>
              </a:lnSpc>
            </a:pPr>
            <a:r>
              <a:rPr sz="1800" b="0" i="0">
                <a:solidFill>
                  <a:srgbClr val="0E7490"/>
                </a:solidFill>
                <a:latin typeface="Consolas"/>
              </a:rPr>
              <a:t>print</a:t>
            </a:r>
            <a:r>
              <a:rPr sz="1800" b="0" i="0">
                <a:solidFill>
                  <a:srgbClr val="1F2933"/>
                </a:solidFill>
                <a:latin typeface="Consolas"/>
              </a:rPr>
              <a:t>(lookup_order(</a:t>
            </a:r>
            <a:r>
              <a:rPr sz="1800" b="0" i="0">
                <a:solidFill>
                  <a:srgbClr val="B45309"/>
                </a:solidFill>
                <a:latin typeface="Consolas"/>
              </a:rPr>
              <a:t>"BS-1001"</a:t>
            </a:r>
            <a:r>
              <a:rPr sz="1800" b="0" i="0">
                <a:solidFill>
                  <a:srgbClr val="1F2933"/>
                </a:solidFill>
                <a:latin typeface="Consolas"/>
              </a:rPr>
              <a:t>))</a:t>
            </a:r>
          </a:p>
          <a:p>
            <a:pPr algn="l">
              <a:lnSpc>
                <a:spcPct val="112000"/>
              </a:lnSpc>
            </a:pPr>
            <a:r>
              <a:rPr sz="1800" b="0" i="0">
                <a:solidFill>
                  <a:srgbClr val="0E7490"/>
                </a:solidFill>
                <a:latin typeface="Consolas"/>
              </a:rPr>
              <a:t>print</a:t>
            </a:r>
            <a:r>
              <a:rPr sz="1800" b="0" i="0">
                <a:solidFill>
                  <a:srgbClr val="1F2933"/>
                </a:solidFill>
                <a:latin typeface="Consolas"/>
              </a:rPr>
              <a:t>(lookup_order(</a:t>
            </a:r>
            <a:r>
              <a:rPr sz="1800" b="0" i="0">
                <a:solidFill>
                  <a:srgbClr val="B45309"/>
                </a:solidFill>
                <a:latin typeface="Consolas"/>
              </a:rPr>
              <a:t>"BS-0000"</a:t>
            </a:r>
            <a:r>
              <a:rPr sz="1800" b="0" i="0">
                <a:solidFill>
                  <a:srgbClr val="1F2933"/>
                </a:solidFill>
                <a:latin typeface="Consolas"/>
              </a:rPr>
              <a:t>))</a:t>
            </a:r>
          </a:p>
        </p:txBody>
      </p:sp>
      <p:sp>
        <p:nvSpPr>
          <p:cNvPr id="9" name="Rounded Rectangle 8"/>
          <p:cNvSpPr/>
          <p:nvPr/>
        </p:nvSpPr>
        <p:spPr>
          <a:xfrm>
            <a:off x="640080" y="4579315"/>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652467"/>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670755"/>
            <a:ext cx="5943600" cy="768096"/>
          </a:xfrm>
          <a:prstGeom prst="rect">
            <a:avLst/>
          </a:prstGeom>
          <a:noFill/>
        </p:spPr>
        <p:txBody>
          <a:bodyPr wrap="square" lIns="0" rIns="0" tIns="0" bIns="0" anchor="t">
            <a:spAutoFit/>
          </a:bodyPr>
          <a:lstStyle/>
          <a:p>
            <a:pPr algn="l"/>
            <a:r>
              <a:rPr sz="1600" b="0" i="0">
                <a:solidFill>
                  <a:srgbClr val="E5E7EB"/>
                </a:solidFill>
                <a:latin typeface="Consolas"/>
              </a:rPr>
              <a:t>shipped, arrives Friday</a:t>
            </a:r>
          </a:p>
          <a:p>
            <a:pPr algn="l"/>
            <a:r>
              <a:rPr sz="1600" b="0" i="0">
                <a:solidFill>
                  <a:srgbClr val="E5E7EB"/>
                </a:solidFill>
                <a:latin typeface="Consolas"/>
              </a:rPr>
              <a:t>no such order</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Preview only, written for this deck</a:t>
            </a:r>
          </a:p>
          <a:p>
            <a:pPr>
              <a:spcAft>
                <a:spcPts val="1000"/>
              </a:spcAft>
            </a:pPr>
            <a:r>
              <a:rPr sz="1300">
                <a:solidFill>
                  <a:srgbClr val="4F46E5"/>
                </a:solidFill>
                <a:latin typeface="Calibri"/>
              </a:rPr>
              <a:t>●  </a:t>
            </a:r>
            <a:r>
              <a:rPr sz="1900">
                <a:solidFill>
                  <a:srgbClr val="1F2933"/>
                </a:solidFill>
                <a:latin typeface="Calibri"/>
              </a:rPr>
              <a:t>The model asks for the function by name</a:t>
            </a:r>
          </a:p>
          <a:p>
            <a:pPr>
              <a:spcAft>
                <a:spcPts val="1000"/>
              </a:spcAft>
            </a:pPr>
            <a:r>
              <a:rPr sz="1300">
                <a:solidFill>
                  <a:srgbClr val="4F46E5"/>
                </a:solidFill>
                <a:latin typeface="Calibri"/>
              </a:rPr>
              <a:t>●  </a:t>
            </a:r>
            <a:r>
              <a:rPr sz="1900">
                <a:solidFill>
                  <a:srgbClr val="1F2933"/>
                </a:solidFill>
                <a:latin typeface="Calibri"/>
              </a:rPr>
              <a:t>Lesson 07 writes tools properly</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support desk grows one step per chapter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645920"/>
            <a:ext cx="10908792"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271016" y="3268979"/>
            <a:ext cx="2103120"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Ch 1-2: order lookup chat</a:t>
            </a:r>
          </a:p>
        </p:txBody>
      </p:sp>
      <p:cxnSp>
        <p:nvCxnSpPr>
          <p:cNvPr id="7" name="Connector 6"/>
          <p:cNvCxnSpPr/>
          <p:nvPr/>
        </p:nvCxnSpPr>
        <p:spPr>
          <a:xfrm>
            <a:off x="3419856"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785616" y="3268979"/>
            <a:ext cx="2103120"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Ch 3-4: policy answers, approval</a:t>
            </a:r>
          </a:p>
        </p:txBody>
      </p:sp>
      <p:cxnSp>
        <p:nvCxnSpPr>
          <p:cNvPr id="9" name="Connector 8"/>
          <p:cNvCxnSpPr/>
          <p:nvPr/>
        </p:nvCxnSpPr>
        <p:spPr>
          <a:xfrm>
            <a:off x="5934456"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300216" y="3268979"/>
            <a:ext cx="2103120"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Ch 5: traces, cost, tenants</a:t>
            </a:r>
          </a:p>
        </p:txBody>
      </p:sp>
      <p:cxnSp>
        <p:nvCxnSpPr>
          <p:cNvPr id="11" name="Connector 10"/>
          <p:cNvCxnSpPr/>
          <p:nvPr/>
        </p:nvCxnSpPr>
        <p:spPr>
          <a:xfrm>
            <a:off x="8449056"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814816" y="3268979"/>
            <a:ext cx="2103120" cy="86868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Ch 6: one command, tests</a:t>
            </a:r>
          </a:p>
        </p:txBody>
      </p:sp>
      <p:sp>
        <p:nvSpPr>
          <p:cNvPr id="13" name="TextBox 12"/>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Brightside Outfitters support desk: a local web app with a chat page, built in four steps.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Six chapters, 38 lessons, about 15 hours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ectangle 4"/>
          <p:cNvSpPr/>
          <p:nvPr/>
        </p:nvSpPr>
        <p:spPr>
          <a:xfrm>
            <a:off x="640080" y="1508760"/>
            <a:ext cx="10908792" cy="493776"/>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640080" cy="493776"/>
          </a:xfrm>
          <a:prstGeom prst="rect">
            <a:avLst/>
          </a:prstGeom>
          <a:noFill/>
        </p:spPr>
        <p:txBody>
          <a:bodyPr wrap="square" lIns="0" rIns="0" tIns="0" bIns="0" anchor="ctr">
            <a:spAutoFit/>
          </a:bodyPr>
          <a:lstStyle/>
          <a:p>
            <a:pPr algn="l"/>
            <a:r>
              <a:rPr sz="1800" b="1" i="0">
                <a:solidFill>
                  <a:srgbClr val="4F46E5"/>
                </a:solidFill>
                <a:latin typeface="Calibri"/>
              </a:rPr>
              <a:t>1</a:t>
            </a:r>
          </a:p>
        </p:txBody>
      </p:sp>
      <p:sp>
        <p:nvSpPr>
          <p:cNvPr id="7" name="TextBox 6"/>
          <p:cNvSpPr txBox="1"/>
          <p:nvPr/>
        </p:nvSpPr>
        <p:spPr>
          <a:xfrm>
            <a:off x="1554480" y="1508760"/>
            <a:ext cx="6309360" cy="493776"/>
          </a:xfrm>
          <a:prstGeom prst="rect">
            <a:avLst/>
          </a:prstGeom>
          <a:noFill/>
        </p:spPr>
        <p:txBody>
          <a:bodyPr wrap="square" lIns="0" rIns="0" tIns="0" bIns="0" anchor="ctr">
            <a:spAutoFit/>
          </a:bodyPr>
          <a:lstStyle/>
          <a:p>
            <a:pPr algn="l"/>
            <a:r>
              <a:rPr sz="1800" b="0" i="0">
                <a:solidFill>
                  <a:srgbClr val="1F2933"/>
                </a:solidFill>
                <a:latin typeface="Calibri"/>
              </a:rPr>
              <a:t>Foundations: the first model call and the tool loop</a:t>
            </a:r>
          </a:p>
        </p:txBody>
      </p:sp>
      <p:sp>
        <p:nvSpPr>
          <p:cNvPr id="8" name="Rounded Rectangle 7"/>
          <p:cNvSpPr/>
          <p:nvPr/>
        </p:nvSpPr>
        <p:spPr>
          <a:xfrm>
            <a:off x="8001000" y="1581912"/>
            <a:ext cx="1600200" cy="347472"/>
          </a:xfrm>
          <a:prstGeom prst="roundRect">
            <a:avLst>
              <a:gd name="adj" fmla="val 12000"/>
            </a:avLst>
          </a:prstGeom>
          <a:solidFill>
            <a:srgbClr val="DFDE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Basic</a:t>
            </a:r>
          </a:p>
        </p:txBody>
      </p:sp>
      <p:sp>
        <p:nvSpPr>
          <p:cNvPr id="9" name="TextBox 8"/>
          <p:cNvSpPr txBox="1"/>
          <p:nvPr/>
        </p:nvSpPr>
        <p:spPr>
          <a:xfrm>
            <a:off x="9784080" y="1508760"/>
            <a:ext cx="1691640" cy="493776"/>
          </a:xfrm>
          <a:prstGeom prst="rect">
            <a:avLst/>
          </a:prstGeom>
          <a:noFill/>
        </p:spPr>
        <p:txBody>
          <a:bodyPr wrap="square" lIns="0" rIns="0" tIns="0" bIns="0" anchor="ctr">
            <a:spAutoFit/>
          </a:bodyPr>
          <a:lstStyle/>
          <a:p>
            <a:pPr algn="r"/>
            <a:r>
              <a:rPr sz="1400" b="0" i="0">
                <a:solidFill>
                  <a:srgbClr val="6B7280"/>
                </a:solidFill>
                <a:latin typeface="Calibri"/>
              </a:rPr>
              <a:t>5 lessons · ~1.7 h</a:t>
            </a:r>
          </a:p>
        </p:txBody>
      </p:sp>
      <p:sp>
        <p:nvSpPr>
          <p:cNvPr id="10" name="Rectangle 9"/>
          <p:cNvSpPr/>
          <p:nvPr/>
        </p:nvSpPr>
        <p:spPr>
          <a:xfrm>
            <a:off x="640080" y="2075688"/>
            <a:ext cx="10908792"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075688"/>
            <a:ext cx="640080" cy="493776"/>
          </a:xfrm>
          <a:prstGeom prst="rect">
            <a:avLst/>
          </a:prstGeom>
          <a:noFill/>
        </p:spPr>
        <p:txBody>
          <a:bodyPr wrap="square" lIns="0" rIns="0" tIns="0" bIns="0" anchor="ctr">
            <a:spAutoFit/>
          </a:bodyPr>
          <a:lstStyle/>
          <a:p>
            <a:pPr algn="l"/>
            <a:r>
              <a:rPr sz="1800" b="1" i="0">
                <a:solidFill>
                  <a:srgbClr val="4F46E5"/>
                </a:solidFill>
                <a:latin typeface="Calibri"/>
              </a:rPr>
              <a:t>2</a:t>
            </a:r>
          </a:p>
        </p:txBody>
      </p:sp>
      <p:sp>
        <p:nvSpPr>
          <p:cNvPr id="12" name="TextBox 11"/>
          <p:cNvSpPr txBox="1"/>
          <p:nvPr/>
        </p:nvSpPr>
        <p:spPr>
          <a:xfrm>
            <a:off x="1554480" y="2075688"/>
            <a:ext cx="6309360" cy="493776"/>
          </a:xfrm>
          <a:prstGeom prst="rect">
            <a:avLst/>
          </a:prstGeom>
          <a:noFill/>
        </p:spPr>
        <p:txBody>
          <a:bodyPr wrap="square" lIns="0" rIns="0" tIns="0" bIns="0" anchor="ctr">
            <a:spAutoFit/>
          </a:bodyPr>
          <a:lstStyle/>
          <a:p>
            <a:pPr algn="l"/>
            <a:r>
              <a:rPr sz="1800" b="0" i="0">
                <a:solidFill>
                  <a:srgbClr val="1F2933"/>
                </a:solidFill>
                <a:latin typeface="Calibri"/>
              </a:rPr>
              <a:t>Core: an agent you can test and secure</a:t>
            </a:r>
          </a:p>
        </p:txBody>
      </p:sp>
      <p:sp>
        <p:nvSpPr>
          <p:cNvPr id="13" name="Rounded Rectangle 12"/>
          <p:cNvSpPr/>
          <p:nvPr/>
        </p:nvSpPr>
        <p:spPr>
          <a:xfrm>
            <a:off x="8001000" y="2148840"/>
            <a:ext cx="1600200" cy="347472"/>
          </a:xfrm>
          <a:prstGeom prst="roundRect">
            <a:avLst>
              <a:gd name="adj" fmla="val 12000"/>
            </a:avLst>
          </a:prstGeom>
          <a:solidFill>
            <a:srgbClr val="DFDE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Basic</a:t>
            </a:r>
          </a:p>
        </p:txBody>
      </p:sp>
      <p:sp>
        <p:nvSpPr>
          <p:cNvPr id="14" name="TextBox 13"/>
          <p:cNvSpPr txBox="1"/>
          <p:nvPr/>
        </p:nvSpPr>
        <p:spPr>
          <a:xfrm>
            <a:off x="9784080" y="2075688"/>
            <a:ext cx="1691640" cy="493776"/>
          </a:xfrm>
          <a:prstGeom prst="rect">
            <a:avLst/>
          </a:prstGeom>
          <a:noFill/>
        </p:spPr>
        <p:txBody>
          <a:bodyPr wrap="square" lIns="0" rIns="0" tIns="0" bIns="0" anchor="ctr">
            <a:spAutoFit/>
          </a:bodyPr>
          <a:lstStyle/>
          <a:p>
            <a:pPr algn="r"/>
            <a:r>
              <a:rPr sz="1400" b="0" i="0">
                <a:solidFill>
                  <a:srgbClr val="6B7280"/>
                </a:solidFill>
                <a:latin typeface="Calibri"/>
              </a:rPr>
              <a:t>5 lessons · ~2 h</a:t>
            </a:r>
          </a:p>
        </p:txBody>
      </p:sp>
      <p:sp>
        <p:nvSpPr>
          <p:cNvPr id="15" name="Rectangle 14"/>
          <p:cNvSpPr/>
          <p:nvPr/>
        </p:nvSpPr>
        <p:spPr>
          <a:xfrm>
            <a:off x="640080" y="2642615"/>
            <a:ext cx="10908792" cy="493776"/>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642615"/>
            <a:ext cx="640080" cy="493776"/>
          </a:xfrm>
          <a:prstGeom prst="rect">
            <a:avLst/>
          </a:prstGeom>
          <a:noFill/>
        </p:spPr>
        <p:txBody>
          <a:bodyPr wrap="square" lIns="0" rIns="0" tIns="0" bIns="0" anchor="ctr">
            <a:spAutoFit/>
          </a:bodyPr>
          <a:lstStyle/>
          <a:p>
            <a:pPr algn="l"/>
            <a:r>
              <a:rPr sz="1800" b="1" i="0">
                <a:solidFill>
                  <a:srgbClr val="4F46E5"/>
                </a:solidFill>
                <a:latin typeface="Calibri"/>
              </a:rPr>
              <a:t>3</a:t>
            </a:r>
          </a:p>
        </p:txBody>
      </p:sp>
      <p:sp>
        <p:nvSpPr>
          <p:cNvPr id="17" name="TextBox 16"/>
          <p:cNvSpPr txBox="1"/>
          <p:nvPr/>
        </p:nvSpPr>
        <p:spPr>
          <a:xfrm>
            <a:off x="1554480" y="2642615"/>
            <a:ext cx="6309360" cy="493776"/>
          </a:xfrm>
          <a:prstGeom prst="rect">
            <a:avLst/>
          </a:prstGeom>
          <a:noFill/>
        </p:spPr>
        <p:txBody>
          <a:bodyPr wrap="square" lIns="0" rIns="0" tIns="0" bIns="0" anchor="ctr">
            <a:spAutoFit/>
          </a:bodyPr>
          <a:lstStyle/>
          <a:p>
            <a:pPr algn="l"/>
            <a:r>
              <a:rPr sz="1800" b="0" i="0">
                <a:solidFill>
                  <a:srgbClr val="1F2933"/>
                </a:solidFill>
                <a:latin typeface="Calibri"/>
              </a:rPr>
              <a:t>Practical: workflows, memory and retrieval</a:t>
            </a:r>
          </a:p>
        </p:txBody>
      </p:sp>
      <p:sp>
        <p:nvSpPr>
          <p:cNvPr id="18" name="Rounded Rectangle 17"/>
          <p:cNvSpPr/>
          <p:nvPr/>
        </p:nvSpPr>
        <p:spPr>
          <a:xfrm>
            <a:off x="8001000" y="2715768"/>
            <a:ext cx="1600200" cy="347472"/>
          </a:xfrm>
          <a:prstGeom prst="roundRect">
            <a:avLst>
              <a:gd name="adj" fmla="val 12000"/>
            </a:avLst>
          </a:prstGeom>
          <a:solidFill>
            <a:srgbClr val="B9B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Intermediate</a:t>
            </a:r>
          </a:p>
        </p:txBody>
      </p:sp>
      <p:sp>
        <p:nvSpPr>
          <p:cNvPr id="19" name="TextBox 18"/>
          <p:cNvSpPr txBox="1"/>
          <p:nvPr/>
        </p:nvSpPr>
        <p:spPr>
          <a:xfrm>
            <a:off x="9784080" y="2642615"/>
            <a:ext cx="1691640" cy="493776"/>
          </a:xfrm>
          <a:prstGeom prst="rect">
            <a:avLst/>
          </a:prstGeom>
          <a:noFill/>
        </p:spPr>
        <p:txBody>
          <a:bodyPr wrap="square" lIns="0" rIns="0" tIns="0" bIns="0" anchor="ctr">
            <a:spAutoFit/>
          </a:bodyPr>
          <a:lstStyle/>
          <a:p>
            <a:pPr algn="r"/>
            <a:r>
              <a:rPr sz="1400" b="0" i="0">
                <a:solidFill>
                  <a:srgbClr val="6B7280"/>
                </a:solidFill>
                <a:latin typeface="Calibri"/>
              </a:rPr>
              <a:t>8 lessons · ~3 h</a:t>
            </a:r>
          </a:p>
        </p:txBody>
      </p:sp>
      <p:sp>
        <p:nvSpPr>
          <p:cNvPr id="20" name="Rectangle 19"/>
          <p:cNvSpPr/>
          <p:nvPr/>
        </p:nvSpPr>
        <p:spPr>
          <a:xfrm>
            <a:off x="640080" y="3209544"/>
            <a:ext cx="10908792"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209544"/>
            <a:ext cx="640080" cy="493776"/>
          </a:xfrm>
          <a:prstGeom prst="rect">
            <a:avLst/>
          </a:prstGeom>
          <a:noFill/>
        </p:spPr>
        <p:txBody>
          <a:bodyPr wrap="square" lIns="0" rIns="0" tIns="0" bIns="0" anchor="ctr">
            <a:spAutoFit/>
          </a:bodyPr>
          <a:lstStyle/>
          <a:p>
            <a:pPr algn="l"/>
            <a:r>
              <a:rPr sz="1800" b="1" i="0">
                <a:solidFill>
                  <a:srgbClr val="4F46E5"/>
                </a:solidFill>
                <a:latin typeface="Calibri"/>
              </a:rPr>
              <a:t>4</a:t>
            </a:r>
          </a:p>
        </p:txBody>
      </p:sp>
      <p:sp>
        <p:nvSpPr>
          <p:cNvPr id="22" name="TextBox 21"/>
          <p:cNvSpPr txBox="1"/>
          <p:nvPr/>
        </p:nvSpPr>
        <p:spPr>
          <a:xfrm>
            <a:off x="1554480" y="3209544"/>
            <a:ext cx="6309360" cy="493776"/>
          </a:xfrm>
          <a:prstGeom prst="rect">
            <a:avLst/>
          </a:prstGeom>
          <a:noFill/>
        </p:spPr>
        <p:txBody>
          <a:bodyPr wrap="square" lIns="0" rIns="0" tIns="0" bIns="0" anchor="ctr">
            <a:spAutoFit/>
          </a:bodyPr>
          <a:lstStyle/>
          <a:p>
            <a:pPr algn="l"/>
            <a:r>
              <a:rPr sz="1800" b="0" i="0">
                <a:solidFill>
                  <a:srgbClr val="1F2933"/>
                </a:solidFill>
                <a:latin typeface="Calibri"/>
              </a:rPr>
              <a:t>Advanced build: LangGraph, MCP and the eval loop</a:t>
            </a:r>
          </a:p>
        </p:txBody>
      </p:sp>
      <p:sp>
        <p:nvSpPr>
          <p:cNvPr id="23" name="Rounded Rectangle 22"/>
          <p:cNvSpPr/>
          <p:nvPr/>
        </p:nvSpPr>
        <p:spPr>
          <a:xfrm>
            <a:off x="8001000" y="3282696"/>
            <a:ext cx="1600200" cy="347472"/>
          </a:xfrm>
          <a:prstGeom prst="roundRect">
            <a:avLst>
              <a:gd name="adj" fmla="val 12000"/>
            </a:avLst>
          </a:prstGeom>
          <a:solidFill>
            <a:srgbClr val="B9B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Intermediate</a:t>
            </a:r>
          </a:p>
        </p:txBody>
      </p:sp>
      <p:sp>
        <p:nvSpPr>
          <p:cNvPr id="24" name="TextBox 23"/>
          <p:cNvSpPr txBox="1"/>
          <p:nvPr/>
        </p:nvSpPr>
        <p:spPr>
          <a:xfrm>
            <a:off x="9784080" y="3209544"/>
            <a:ext cx="1691640" cy="493776"/>
          </a:xfrm>
          <a:prstGeom prst="rect">
            <a:avLst/>
          </a:prstGeom>
          <a:noFill/>
        </p:spPr>
        <p:txBody>
          <a:bodyPr wrap="square" lIns="0" rIns="0" tIns="0" bIns="0" anchor="ctr">
            <a:spAutoFit/>
          </a:bodyPr>
          <a:lstStyle/>
          <a:p>
            <a:pPr algn="r"/>
            <a:r>
              <a:rPr sz="1400" b="0" i="0">
                <a:solidFill>
                  <a:srgbClr val="6B7280"/>
                </a:solidFill>
                <a:latin typeface="Calibri"/>
              </a:rPr>
              <a:t>5 lessons · ~1.9 h</a:t>
            </a:r>
          </a:p>
        </p:txBody>
      </p:sp>
      <p:sp>
        <p:nvSpPr>
          <p:cNvPr id="25" name="Rectangle 24"/>
          <p:cNvSpPr/>
          <p:nvPr/>
        </p:nvSpPr>
        <p:spPr>
          <a:xfrm>
            <a:off x="640080" y="3776472"/>
            <a:ext cx="10908792" cy="493776"/>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776472"/>
            <a:ext cx="640080" cy="493776"/>
          </a:xfrm>
          <a:prstGeom prst="rect">
            <a:avLst/>
          </a:prstGeom>
          <a:noFill/>
        </p:spPr>
        <p:txBody>
          <a:bodyPr wrap="square" lIns="0" rIns="0" tIns="0" bIns="0" anchor="ctr">
            <a:spAutoFit/>
          </a:bodyPr>
          <a:lstStyle/>
          <a:p>
            <a:pPr algn="l"/>
            <a:r>
              <a:rPr sz="1800" b="1" i="0">
                <a:solidFill>
                  <a:srgbClr val="4F46E5"/>
                </a:solidFill>
                <a:latin typeface="Calibri"/>
              </a:rPr>
              <a:t>5</a:t>
            </a:r>
          </a:p>
        </p:txBody>
      </p:sp>
      <p:sp>
        <p:nvSpPr>
          <p:cNvPr id="27" name="TextBox 26"/>
          <p:cNvSpPr txBox="1"/>
          <p:nvPr/>
        </p:nvSpPr>
        <p:spPr>
          <a:xfrm>
            <a:off x="1554480" y="3776472"/>
            <a:ext cx="6309360" cy="493776"/>
          </a:xfrm>
          <a:prstGeom prst="rect">
            <a:avLst/>
          </a:prstGeom>
          <a:noFill/>
        </p:spPr>
        <p:txBody>
          <a:bodyPr wrap="square" lIns="0" rIns="0" tIns="0" bIns="0" anchor="ctr">
            <a:spAutoFit/>
          </a:bodyPr>
          <a:lstStyle/>
          <a:p>
            <a:pPr algn="l"/>
            <a:r>
              <a:rPr sz="1800" b="0" i="0">
                <a:solidFill>
                  <a:srgbClr val="1F2933"/>
                </a:solidFill>
                <a:latin typeface="Calibri"/>
              </a:rPr>
              <a:t>Production: multi-agent, protocols, evals in CI and security</a:t>
            </a:r>
          </a:p>
        </p:txBody>
      </p:sp>
      <p:sp>
        <p:nvSpPr>
          <p:cNvPr id="28" name="Rounded Rectangle 27"/>
          <p:cNvSpPr/>
          <p:nvPr/>
        </p:nvSpPr>
        <p:spPr>
          <a:xfrm>
            <a:off x="8001000" y="3849624"/>
            <a:ext cx="1600200" cy="347472"/>
          </a:xfrm>
          <a:prstGeom prst="roundRect">
            <a:avLst>
              <a:gd name="adj" fmla="val 12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FFFFFF"/>
                </a:solidFill>
                <a:latin typeface="Calibri"/>
              </a:rPr>
              <a:t>Advanced</a:t>
            </a:r>
          </a:p>
        </p:txBody>
      </p:sp>
      <p:sp>
        <p:nvSpPr>
          <p:cNvPr id="29" name="TextBox 28"/>
          <p:cNvSpPr txBox="1"/>
          <p:nvPr/>
        </p:nvSpPr>
        <p:spPr>
          <a:xfrm>
            <a:off x="9784080" y="3776472"/>
            <a:ext cx="1691640" cy="493776"/>
          </a:xfrm>
          <a:prstGeom prst="rect">
            <a:avLst/>
          </a:prstGeom>
          <a:noFill/>
        </p:spPr>
        <p:txBody>
          <a:bodyPr wrap="square" lIns="0" rIns="0" tIns="0" bIns="0" anchor="ctr">
            <a:spAutoFit/>
          </a:bodyPr>
          <a:lstStyle/>
          <a:p>
            <a:pPr algn="r"/>
            <a:r>
              <a:rPr sz="1400" b="0" i="0">
                <a:solidFill>
                  <a:srgbClr val="6B7280"/>
                </a:solidFill>
                <a:latin typeface="Calibri"/>
              </a:rPr>
              <a:t>9 lessons · ~3.7 h</a:t>
            </a:r>
          </a:p>
        </p:txBody>
      </p:sp>
      <p:sp>
        <p:nvSpPr>
          <p:cNvPr id="30" name="Rectangle 29"/>
          <p:cNvSpPr/>
          <p:nvPr/>
        </p:nvSpPr>
        <p:spPr>
          <a:xfrm>
            <a:off x="640080" y="4343400"/>
            <a:ext cx="10908792"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343400"/>
            <a:ext cx="640080" cy="493776"/>
          </a:xfrm>
          <a:prstGeom prst="rect">
            <a:avLst/>
          </a:prstGeom>
          <a:noFill/>
        </p:spPr>
        <p:txBody>
          <a:bodyPr wrap="square" lIns="0" rIns="0" tIns="0" bIns="0" anchor="ctr">
            <a:spAutoFit/>
          </a:bodyPr>
          <a:lstStyle/>
          <a:p>
            <a:pPr algn="l"/>
            <a:r>
              <a:rPr sz="1800" b="1" i="0">
                <a:solidFill>
                  <a:srgbClr val="4F46E5"/>
                </a:solidFill>
                <a:latin typeface="Calibri"/>
              </a:rPr>
              <a:t>6</a:t>
            </a:r>
          </a:p>
        </p:txBody>
      </p:sp>
      <p:sp>
        <p:nvSpPr>
          <p:cNvPr id="32" name="TextBox 31"/>
          <p:cNvSpPr txBox="1"/>
          <p:nvPr/>
        </p:nvSpPr>
        <p:spPr>
          <a:xfrm>
            <a:off x="1554480" y="4343400"/>
            <a:ext cx="6309360" cy="493776"/>
          </a:xfrm>
          <a:prstGeom prst="rect">
            <a:avLst/>
          </a:prstGeom>
          <a:noFill/>
        </p:spPr>
        <p:txBody>
          <a:bodyPr wrap="square" lIns="0" rIns="0" tIns="0" bIns="0" anchor="ctr">
            <a:spAutoFit/>
          </a:bodyPr>
          <a:lstStyle/>
          <a:p>
            <a:pPr algn="l"/>
            <a:r>
              <a:rPr sz="1800" b="0" i="0">
                <a:solidFill>
                  <a:srgbClr val="1F2933"/>
                </a:solidFill>
                <a:latin typeface="Calibri"/>
              </a:rPr>
              <a:t>Enterprise: reliability, cost, serving, durable runs and governance</a:t>
            </a:r>
          </a:p>
        </p:txBody>
      </p:sp>
      <p:sp>
        <p:nvSpPr>
          <p:cNvPr id="33" name="Rounded Rectangle 32"/>
          <p:cNvSpPr/>
          <p:nvPr/>
        </p:nvSpPr>
        <p:spPr>
          <a:xfrm>
            <a:off x="8001000" y="4416552"/>
            <a:ext cx="1600200" cy="347472"/>
          </a:xfrm>
          <a:prstGeom prst="roundRect">
            <a:avLst>
              <a:gd name="adj" fmla="val 12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FFFFFF"/>
                </a:solidFill>
                <a:latin typeface="Calibri"/>
              </a:rPr>
              <a:t>Advanced</a:t>
            </a:r>
          </a:p>
        </p:txBody>
      </p:sp>
      <p:sp>
        <p:nvSpPr>
          <p:cNvPr id="34" name="TextBox 33"/>
          <p:cNvSpPr txBox="1"/>
          <p:nvPr/>
        </p:nvSpPr>
        <p:spPr>
          <a:xfrm>
            <a:off x="9784080" y="4343400"/>
            <a:ext cx="1691640" cy="493776"/>
          </a:xfrm>
          <a:prstGeom prst="rect">
            <a:avLst/>
          </a:prstGeom>
          <a:noFill/>
        </p:spPr>
        <p:txBody>
          <a:bodyPr wrap="square" lIns="0" rIns="0" tIns="0" bIns="0" anchor="ctr">
            <a:spAutoFit/>
          </a:bodyPr>
          <a:lstStyle/>
          <a:p>
            <a:pPr algn="r"/>
            <a:r>
              <a:rPr sz="1400" b="0" i="0">
                <a:solidFill>
                  <a:srgbClr val="6B7280"/>
                </a:solidFill>
                <a:latin typeface="Calibri"/>
              </a:rPr>
              <a:t>6 lessons · ~2.8 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Every lesson follows the same short path</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594359"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1</a:t>
            </a:r>
          </a:p>
        </p:txBody>
      </p:sp>
      <p:cxnSp>
        <p:nvCxnSpPr>
          <p:cNvPr id="8" name="Connector 7"/>
          <p:cNvCxnSpPr/>
          <p:nvPr/>
        </p:nvCxnSpPr>
        <p:spPr>
          <a:xfrm>
            <a:off x="1828800" y="2240280"/>
            <a:ext cx="1824228"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Why it matters</a:t>
            </a:r>
          </a:p>
        </p:txBody>
      </p:sp>
      <p:sp>
        <p:nvSpPr>
          <p:cNvPr id="10" name="TextBox 9"/>
          <p:cNvSpPr txBox="1"/>
          <p:nvPr/>
        </p:nvSpPr>
        <p:spPr>
          <a:xfrm>
            <a:off x="914400"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The problem without this idea.</a:t>
            </a:r>
          </a:p>
        </p:txBody>
      </p:sp>
      <p:sp>
        <p:nvSpPr>
          <p:cNvPr id="11" name="Rounded Rectangle 10"/>
          <p:cNvSpPr/>
          <p:nvPr/>
        </p:nvSpPr>
        <p:spPr>
          <a:xfrm>
            <a:off x="3424428"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744468"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4468"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2</a:t>
            </a:r>
          </a:p>
        </p:txBody>
      </p:sp>
      <p:cxnSp>
        <p:nvCxnSpPr>
          <p:cNvPr id="14" name="Connector 13"/>
          <p:cNvCxnSpPr/>
          <p:nvPr/>
        </p:nvCxnSpPr>
        <p:spPr>
          <a:xfrm>
            <a:off x="4658868" y="2240280"/>
            <a:ext cx="1824228"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744468"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The idea</a:t>
            </a:r>
          </a:p>
        </p:txBody>
      </p:sp>
      <p:sp>
        <p:nvSpPr>
          <p:cNvPr id="16" name="TextBox 15"/>
          <p:cNvSpPr txBox="1"/>
          <p:nvPr/>
        </p:nvSpPr>
        <p:spPr>
          <a:xfrm>
            <a:off x="3744468"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Plain words, a picture, the exact concept.</a:t>
            </a:r>
          </a:p>
        </p:txBody>
      </p:sp>
      <p:sp>
        <p:nvSpPr>
          <p:cNvPr id="17" name="Rounded Rectangle 16"/>
          <p:cNvSpPr/>
          <p:nvPr/>
        </p:nvSpPr>
        <p:spPr>
          <a:xfrm>
            <a:off x="6254496"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74536"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36"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3</a:t>
            </a:r>
          </a:p>
        </p:txBody>
      </p:sp>
      <p:cxnSp>
        <p:nvCxnSpPr>
          <p:cNvPr id="20" name="Connector 19"/>
          <p:cNvCxnSpPr/>
          <p:nvPr/>
        </p:nvCxnSpPr>
        <p:spPr>
          <a:xfrm>
            <a:off x="7488936" y="2240280"/>
            <a:ext cx="1824227"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74536"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Step by step</a:t>
            </a:r>
          </a:p>
        </p:txBody>
      </p:sp>
      <p:sp>
        <p:nvSpPr>
          <p:cNvPr id="22" name="TextBox 21"/>
          <p:cNvSpPr txBox="1"/>
          <p:nvPr/>
        </p:nvSpPr>
        <p:spPr>
          <a:xfrm>
            <a:off x="6574536"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Run the cells; read the real output.</a:t>
            </a:r>
          </a:p>
        </p:txBody>
      </p:sp>
      <p:sp>
        <p:nvSpPr>
          <p:cNvPr id="23" name="Rounded Rectangle 22"/>
          <p:cNvSpPr/>
          <p:nvPr/>
        </p:nvSpPr>
        <p:spPr>
          <a:xfrm>
            <a:off x="9084563"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4604"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04604"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4</a:t>
            </a:r>
          </a:p>
        </p:txBody>
      </p:sp>
      <p:sp>
        <p:nvSpPr>
          <p:cNvPr id="26" name="TextBox 25"/>
          <p:cNvSpPr txBox="1"/>
          <p:nvPr/>
        </p:nvSpPr>
        <p:spPr>
          <a:xfrm>
            <a:off x="9404604"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Try it</a:t>
            </a:r>
          </a:p>
        </p:txBody>
      </p:sp>
      <p:sp>
        <p:nvSpPr>
          <p:cNvPr id="27" name="TextBox 26"/>
          <p:cNvSpPr txBox="1"/>
          <p:nvPr/>
        </p:nvSpPr>
        <p:spPr>
          <a:xfrm>
            <a:off x="9404604"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A short exercise; answer in a hidden cell.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Three levels, each ending in a working app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Basic · ch 1-2</a:t>
            </a:r>
          </a:p>
        </p:txBody>
      </p:sp>
      <p:sp>
        <p:nvSpPr>
          <p:cNvPr id="7" name="TextBox 6"/>
          <p:cNvSpPr txBox="1"/>
          <p:nvPr/>
        </p:nvSpPr>
        <p:spPr>
          <a:xfrm>
            <a:off x="1005840"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10 lessons, 3.7 h</a:t>
            </a:r>
          </a:p>
          <a:p>
            <a:pPr>
              <a:spcAft>
                <a:spcPts val="1000"/>
              </a:spcAft>
            </a:pPr>
            <a:r>
              <a:rPr sz="1200">
                <a:solidFill>
                  <a:srgbClr val="4F46E5"/>
                </a:solidFill>
                <a:latin typeface="Calibri"/>
              </a:rPr>
              <a:t>●  </a:t>
            </a:r>
            <a:r>
              <a:rPr sz="1800">
                <a:solidFill>
                  <a:srgbClr val="1F2933"/>
                </a:solidFill>
                <a:latin typeface="Calibri"/>
              </a:rPr>
              <a:t>Tools, caps, a first eval</a:t>
            </a:r>
          </a:p>
        </p:txBody>
      </p:sp>
      <p:sp>
        <p:nvSpPr>
          <p:cNvPr id="8" name="Rounded Rectangle 7"/>
          <p:cNvSpPr/>
          <p:nvPr/>
        </p:nvSpPr>
        <p:spPr>
          <a:xfrm>
            <a:off x="4383024"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48784"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Intermediate · ch 3-4</a:t>
            </a:r>
          </a:p>
        </p:txBody>
      </p:sp>
      <p:sp>
        <p:nvSpPr>
          <p:cNvPr id="10" name="TextBox 9"/>
          <p:cNvSpPr txBox="1"/>
          <p:nvPr/>
        </p:nvSpPr>
        <p:spPr>
          <a:xfrm>
            <a:off x="4748784"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13 lessons, 4.9 h</a:t>
            </a:r>
          </a:p>
          <a:p>
            <a:pPr>
              <a:spcAft>
                <a:spcPts val="1000"/>
              </a:spcAft>
            </a:pPr>
            <a:r>
              <a:rPr sz="1200">
                <a:solidFill>
                  <a:srgbClr val="4F46E5"/>
                </a:solidFill>
                <a:latin typeface="Calibri"/>
              </a:rPr>
              <a:t>●  </a:t>
            </a:r>
            <a:r>
              <a:rPr sz="1800">
                <a:solidFill>
                  <a:srgbClr val="1F2933"/>
                </a:solidFill>
                <a:latin typeface="Calibri"/>
              </a:rPr>
              <a:t>Workflows, memory, retrieval</a:t>
            </a:r>
          </a:p>
        </p:txBody>
      </p:sp>
      <p:sp>
        <p:nvSpPr>
          <p:cNvPr id="11" name="Rounded Rectangle 10"/>
          <p:cNvSpPr/>
          <p:nvPr/>
        </p:nvSpPr>
        <p:spPr>
          <a:xfrm>
            <a:off x="8125968"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91728"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Advanced · ch 5-6</a:t>
            </a:r>
          </a:p>
        </p:txBody>
      </p:sp>
      <p:sp>
        <p:nvSpPr>
          <p:cNvPr id="13" name="TextBox 12"/>
          <p:cNvSpPr txBox="1"/>
          <p:nvPr/>
        </p:nvSpPr>
        <p:spPr>
          <a:xfrm>
            <a:off x="8491728"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15 lessons, 6.4 h</a:t>
            </a:r>
          </a:p>
          <a:p>
            <a:pPr>
              <a:spcAft>
                <a:spcPts val="1000"/>
              </a:spcAft>
            </a:pPr>
            <a:r>
              <a:rPr sz="1200">
                <a:solidFill>
                  <a:srgbClr val="4F46E5"/>
                </a:solidFill>
                <a:latin typeface="Calibri"/>
              </a:rPr>
              <a:t>●  </a:t>
            </a:r>
            <a:r>
              <a:rPr sz="1800">
                <a:solidFill>
                  <a:srgbClr val="1F2933"/>
                </a:solidFill>
                <a:latin typeface="Calibri"/>
              </a:rPr>
              <a:t>Multi-agent, CI evals, durability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Before you start: four things to set up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ear 6 6"/>
          <p:cNvSpPr/>
          <p:nvPr/>
        </p:nvSpPr>
        <p:spPr>
          <a:xfrm>
            <a:off x="1200150" y="2388870"/>
            <a:ext cx="388620" cy="388620"/>
          </a:xfrm>
          <a:prstGeom prst="gear6">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Python 3.12</a:t>
            </a:r>
          </a:p>
        </p:txBody>
      </p:sp>
      <p:sp>
        <p:nvSpPr>
          <p:cNvPr id="9" name="TextBox 8"/>
          <p:cNvSpPr txBox="1"/>
          <p:nvPr/>
        </p:nvSpPr>
        <p:spPr>
          <a:xfrm>
            <a:off x="1005840"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Small functions and calling a web API.</a:t>
            </a:r>
          </a:p>
        </p:txBody>
      </p:sp>
      <p:sp>
        <p:nvSpPr>
          <p:cNvPr id="10" name="Rounded Rectangle 9"/>
          <p:cNvSpPr/>
          <p:nvPr/>
        </p:nvSpPr>
        <p:spPr>
          <a:xfrm>
            <a:off x="3447287"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813048"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ube 11"/>
          <p:cNvSpPr/>
          <p:nvPr/>
        </p:nvSpPr>
        <p:spPr>
          <a:xfrm>
            <a:off x="4007358" y="2388870"/>
            <a:ext cx="388620" cy="388620"/>
          </a:xfrm>
          <a:prstGeom prst="cub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13048"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Docker</a:t>
            </a:r>
          </a:p>
        </p:txBody>
      </p:sp>
      <p:sp>
        <p:nvSpPr>
          <p:cNvPr id="14" name="TextBox 13"/>
          <p:cNvSpPr txBox="1"/>
          <p:nvPr/>
        </p:nvSpPr>
        <p:spPr>
          <a:xfrm>
            <a:off x="3813048"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Needed for lessons 34, 35 and 37.</a:t>
            </a:r>
          </a:p>
        </p:txBody>
      </p:sp>
      <p:sp>
        <p:nvSpPr>
          <p:cNvPr id="15" name="Rounded Rectangle 14"/>
          <p:cNvSpPr/>
          <p:nvPr/>
        </p:nvSpPr>
        <p:spPr>
          <a:xfrm>
            <a:off x="6254496"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0256"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5-Point Star 16"/>
          <p:cNvSpPr/>
          <p:nvPr/>
        </p:nvSpPr>
        <p:spPr>
          <a:xfrm>
            <a:off x="6814566" y="2388870"/>
            <a:ext cx="388620" cy="388620"/>
          </a:xfrm>
          <a:prstGeom prst="star5">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0256"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A model key</a:t>
            </a:r>
          </a:p>
        </p:txBody>
      </p:sp>
      <p:sp>
        <p:nvSpPr>
          <p:cNvPr id="19" name="TextBox 18"/>
          <p:cNvSpPr txBox="1"/>
          <p:nvPr/>
        </p:nvSpPr>
        <p:spPr>
          <a:xfrm>
            <a:off x="6620256"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A Gemini API key, or a Vertex AI project.</a:t>
            </a:r>
          </a:p>
        </p:txBody>
      </p:sp>
      <p:sp>
        <p:nvSpPr>
          <p:cNvPr id="20" name="Rounded Rectangle 19"/>
          <p:cNvSpPr/>
          <p:nvPr/>
        </p:nvSpPr>
        <p:spPr>
          <a:xfrm>
            <a:off x="9061703"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27463"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cument 21"/>
          <p:cNvSpPr/>
          <p:nvPr/>
        </p:nvSpPr>
        <p:spPr>
          <a:xfrm>
            <a:off x="9621774" y="2388870"/>
            <a:ext cx="388620" cy="388620"/>
          </a:xfrm>
          <a:prstGeom prst="flowChartDocumen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7463"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Your .env file</a:t>
            </a:r>
          </a:p>
        </p:txBody>
      </p:sp>
      <p:sp>
        <p:nvSpPr>
          <p:cNvPr id="24" name="TextBox 23"/>
          <p:cNvSpPr txBox="1"/>
          <p:nvPr/>
        </p:nvSpPr>
        <p:spPr>
          <a:xfrm>
            <a:off x="9427463"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Copy .env.example; never commit .env.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Each chapter proves itself three ways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Checkpoints</a:t>
            </a:r>
          </a:p>
        </p:txBody>
      </p:sp>
      <p:sp>
        <p:nvSpPr>
          <p:cNvPr id="7" name="TextBox 6"/>
          <p:cNvSpPr txBox="1"/>
          <p:nvPr/>
        </p:nvSpPr>
        <p:spPr>
          <a:xfrm>
            <a:off x="1005840"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Six star projects</a:t>
            </a:r>
          </a:p>
          <a:p>
            <a:pPr>
              <a:spcAft>
                <a:spcPts val="1000"/>
              </a:spcAft>
            </a:pPr>
            <a:r>
              <a:rPr sz="1200">
                <a:solidFill>
                  <a:srgbClr val="4F46E5"/>
                </a:solidFill>
                <a:latin typeface="Calibri"/>
              </a:rPr>
              <a:t>●  </a:t>
            </a:r>
            <a:r>
              <a:rPr sz="1800">
                <a:solidFill>
                  <a:srgbClr val="1F2933"/>
                </a:solidFill>
                <a:latin typeface="Calibri"/>
              </a:rPr>
              <a:t>Lessons 05, 10, 18, 23, 31, 37</a:t>
            </a:r>
          </a:p>
        </p:txBody>
      </p:sp>
      <p:sp>
        <p:nvSpPr>
          <p:cNvPr id="8" name="Rounded Rectangle 7"/>
          <p:cNvSpPr/>
          <p:nvPr/>
        </p:nvSpPr>
        <p:spPr>
          <a:xfrm>
            <a:off x="4383024"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48784"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Golden tests</a:t>
            </a:r>
          </a:p>
        </p:txBody>
      </p:sp>
      <p:sp>
        <p:nvSpPr>
          <p:cNvPr id="10" name="TextBox 9"/>
          <p:cNvSpPr txBox="1"/>
          <p:nvPr/>
        </p:nvSpPr>
        <p:spPr>
          <a:xfrm>
            <a:off x="4748784"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Lesson 08: 30 golden tasks</a:t>
            </a:r>
          </a:p>
          <a:p>
            <a:pPr>
              <a:spcAft>
                <a:spcPts val="1000"/>
              </a:spcAft>
            </a:pPr>
            <a:r>
              <a:rPr sz="1200">
                <a:solidFill>
                  <a:srgbClr val="4F46E5"/>
                </a:solidFill>
                <a:latin typeface="Calibri"/>
              </a:rPr>
              <a:t>●  </a:t>
            </a:r>
            <a:r>
              <a:rPr sz="1800">
                <a:solidFill>
                  <a:srgbClr val="1F2933"/>
                </a:solidFill>
                <a:latin typeface="Calibri"/>
              </a:rPr>
              <a:t>Lesson 28: CI blocks bad change</a:t>
            </a:r>
          </a:p>
        </p:txBody>
      </p:sp>
      <p:sp>
        <p:nvSpPr>
          <p:cNvPr id="11" name="Rounded Rectangle 10"/>
          <p:cNvSpPr/>
          <p:nvPr/>
        </p:nvSpPr>
        <p:spPr>
          <a:xfrm>
            <a:off x="8125968"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91728"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Interview line</a:t>
            </a:r>
          </a:p>
        </p:txBody>
      </p:sp>
      <p:sp>
        <p:nvSpPr>
          <p:cNvPr id="13" name="TextBox 12"/>
          <p:cNvSpPr txBox="1"/>
          <p:nvPr/>
        </p:nvSpPr>
        <p:spPr>
          <a:xfrm>
            <a:off x="8491728"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Core lessons end with one</a:t>
            </a:r>
          </a:p>
          <a:p>
            <a:pPr>
              <a:spcAft>
                <a:spcPts val="1000"/>
              </a:spcAft>
            </a:pPr>
            <a:r>
              <a:rPr sz="1200">
                <a:solidFill>
                  <a:srgbClr val="4F46E5"/>
                </a:solidFill>
                <a:latin typeface="Calibri"/>
              </a:rPr>
              <a:t>●  </a:t>
            </a:r>
            <a:r>
              <a:rPr sz="1800">
                <a:solidFill>
                  <a:srgbClr val="1F2933"/>
                </a:solidFill>
                <a:latin typeface="Calibri"/>
              </a:rPr>
              <a:t>Say it aloud before you move 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Six words you will hear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60020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754880" cy="457200"/>
          </a:xfrm>
          <a:prstGeom prst="rect">
            <a:avLst/>
          </a:prstGeom>
          <a:noFill/>
        </p:spPr>
        <p:txBody>
          <a:bodyPr wrap="square" lIns="0" rIns="0" tIns="0" bIns="0" anchor="t">
            <a:spAutoFit/>
          </a:bodyPr>
          <a:lstStyle/>
          <a:p>
            <a:pPr algn="l"/>
            <a:r>
              <a:rPr sz="2200" b="1" i="0">
                <a:solidFill>
                  <a:srgbClr val="4F46E5"/>
                </a:solidFill>
                <a:latin typeface="Calibri"/>
              </a:rPr>
              <a:t>Agent</a:t>
            </a:r>
          </a:p>
        </p:txBody>
      </p:sp>
      <p:sp>
        <p:nvSpPr>
          <p:cNvPr id="7" name="TextBox 6"/>
          <p:cNvSpPr txBox="1"/>
          <p:nvPr/>
        </p:nvSpPr>
        <p:spPr>
          <a:xfrm>
            <a:off x="960119" y="2286000"/>
            <a:ext cx="4754880" cy="396239"/>
          </a:xfrm>
          <a:prstGeom prst="rect">
            <a:avLst/>
          </a:prstGeom>
          <a:noFill/>
        </p:spPr>
        <p:txBody>
          <a:bodyPr wrap="square" lIns="0" rIns="0" tIns="0" bIns="0" anchor="t">
            <a:spAutoFit/>
          </a:bodyPr>
          <a:lstStyle/>
          <a:p>
            <a:pPr algn="l"/>
            <a:r>
              <a:rPr sz="1800" b="0" i="0">
                <a:solidFill>
                  <a:srgbClr val="1F2933"/>
                </a:solidFill>
                <a:latin typeface="Calibri"/>
              </a:rPr>
              <a:t>A model running tools in a loop.</a:t>
            </a:r>
          </a:p>
        </p:txBody>
      </p:sp>
      <p:sp>
        <p:nvSpPr>
          <p:cNvPr id="8" name="Rounded Rectangle 7"/>
          <p:cNvSpPr/>
          <p:nvPr/>
        </p:nvSpPr>
        <p:spPr>
          <a:xfrm>
            <a:off x="6217920" y="160020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59" y="1783080"/>
            <a:ext cx="4754880" cy="457200"/>
          </a:xfrm>
          <a:prstGeom prst="rect">
            <a:avLst/>
          </a:prstGeom>
          <a:noFill/>
        </p:spPr>
        <p:txBody>
          <a:bodyPr wrap="square" lIns="0" rIns="0" tIns="0" bIns="0" anchor="t">
            <a:spAutoFit/>
          </a:bodyPr>
          <a:lstStyle/>
          <a:p>
            <a:pPr algn="l"/>
            <a:r>
              <a:rPr sz="2200" b="1" i="0">
                <a:solidFill>
                  <a:srgbClr val="4F46E5"/>
                </a:solidFill>
                <a:latin typeface="Calibri"/>
              </a:rPr>
              <a:t>Tool</a:t>
            </a:r>
          </a:p>
        </p:txBody>
      </p:sp>
      <p:sp>
        <p:nvSpPr>
          <p:cNvPr id="10" name="TextBox 9"/>
          <p:cNvSpPr txBox="1"/>
          <p:nvPr/>
        </p:nvSpPr>
        <p:spPr>
          <a:xfrm>
            <a:off x="6537959" y="2286000"/>
            <a:ext cx="4754880" cy="396239"/>
          </a:xfrm>
          <a:prstGeom prst="rect">
            <a:avLst/>
          </a:prstGeom>
          <a:noFill/>
        </p:spPr>
        <p:txBody>
          <a:bodyPr wrap="square" lIns="0" rIns="0" tIns="0" bIns="0" anchor="t">
            <a:spAutoFit/>
          </a:bodyPr>
          <a:lstStyle/>
          <a:p>
            <a:pPr algn="l"/>
            <a:r>
              <a:rPr sz="1800" b="0" i="0">
                <a:solidFill>
                  <a:srgbClr val="1F2933"/>
                </a:solidFill>
                <a:latin typeface="Calibri"/>
              </a:rPr>
              <a:t>A function the model may request.</a:t>
            </a:r>
          </a:p>
        </p:txBody>
      </p:sp>
      <p:sp>
        <p:nvSpPr>
          <p:cNvPr id="11" name="Rounded Rectangle 10"/>
          <p:cNvSpPr/>
          <p:nvPr/>
        </p:nvSpPr>
        <p:spPr>
          <a:xfrm>
            <a:off x="640080" y="300228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185160"/>
            <a:ext cx="4754880" cy="457200"/>
          </a:xfrm>
          <a:prstGeom prst="rect">
            <a:avLst/>
          </a:prstGeom>
          <a:noFill/>
        </p:spPr>
        <p:txBody>
          <a:bodyPr wrap="square" lIns="0" rIns="0" tIns="0" bIns="0" anchor="t">
            <a:spAutoFit/>
          </a:bodyPr>
          <a:lstStyle/>
          <a:p>
            <a:pPr algn="l"/>
            <a:r>
              <a:rPr sz="2200" b="1" i="0">
                <a:solidFill>
                  <a:srgbClr val="4F46E5"/>
                </a:solidFill>
                <a:latin typeface="Calibri"/>
              </a:rPr>
              <a:t>Token</a:t>
            </a:r>
          </a:p>
        </p:txBody>
      </p:sp>
      <p:sp>
        <p:nvSpPr>
          <p:cNvPr id="13" name="TextBox 12"/>
          <p:cNvSpPr txBox="1"/>
          <p:nvPr/>
        </p:nvSpPr>
        <p:spPr>
          <a:xfrm>
            <a:off x="960119" y="3688080"/>
            <a:ext cx="4754880" cy="396239"/>
          </a:xfrm>
          <a:prstGeom prst="rect">
            <a:avLst/>
          </a:prstGeom>
          <a:noFill/>
        </p:spPr>
        <p:txBody>
          <a:bodyPr wrap="square" lIns="0" rIns="0" tIns="0" bIns="0" anchor="t">
            <a:spAutoFit/>
          </a:bodyPr>
          <a:lstStyle/>
          <a:p>
            <a:pPr algn="l"/>
            <a:r>
              <a:rPr sz="1800" b="0" i="0">
                <a:solidFill>
                  <a:srgbClr val="1F2933"/>
                </a:solidFill>
                <a:latin typeface="Calibri"/>
              </a:rPr>
              <a:t>A chunk of text that is billed.</a:t>
            </a:r>
          </a:p>
        </p:txBody>
      </p:sp>
      <p:sp>
        <p:nvSpPr>
          <p:cNvPr id="14" name="Rounded Rectangle 13"/>
          <p:cNvSpPr/>
          <p:nvPr/>
        </p:nvSpPr>
        <p:spPr>
          <a:xfrm>
            <a:off x="6217920" y="300228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59" y="3185160"/>
            <a:ext cx="4754880" cy="457200"/>
          </a:xfrm>
          <a:prstGeom prst="rect">
            <a:avLst/>
          </a:prstGeom>
          <a:noFill/>
        </p:spPr>
        <p:txBody>
          <a:bodyPr wrap="square" lIns="0" rIns="0" tIns="0" bIns="0" anchor="t">
            <a:spAutoFit/>
          </a:bodyPr>
          <a:lstStyle/>
          <a:p>
            <a:pPr algn="l"/>
            <a:r>
              <a:rPr sz="2200" b="1" i="0">
                <a:solidFill>
                  <a:srgbClr val="4F46E5"/>
                </a:solidFill>
                <a:latin typeface="Calibri"/>
              </a:rPr>
              <a:t>Context window</a:t>
            </a:r>
          </a:p>
        </p:txBody>
      </p:sp>
      <p:sp>
        <p:nvSpPr>
          <p:cNvPr id="16" name="TextBox 15"/>
          <p:cNvSpPr txBox="1"/>
          <p:nvPr/>
        </p:nvSpPr>
        <p:spPr>
          <a:xfrm>
            <a:off x="6537959" y="3688080"/>
            <a:ext cx="4754880" cy="396239"/>
          </a:xfrm>
          <a:prstGeom prst="rect">
            <a:avLst/>
          </a:prstGeom>
          <a:noFill/>
        </p:spPr>
        <p:txBody>
          <a:bodyPr wrap="square" lIns="0" rIns="0" tIns="0" bIns="0" anchor="t">
            <a:spAutoFit/>
          </a:bodyPr>
          <a:lstStyle/>
          <a:p>
            <a:pPr algn="l"/>
            <a:r>
              <a:rPr sz="1800" b="0" i="0">
                <a:solidFill>
                  <a:srgbClr val="1F2933"/>
                </a:solidFill>
                <a:latin typeface="Calibri"/>
              </a:rPr>
              <a:t>The most text one call holds.</a:t>
            </a:r>
          </a:p>
        </p:txBody>
      </p:sp>
      <p:sp>
        <p:nvSpPr>
          <p:cNvPr id="17" name="Rounded Rectangle 16"/>
          <p:cNvSpPr/>
          <p:nvPr/>
        </p:nvSpPr>
        <p:spPr>
          <a:xfrm>
            <a:off x="640080" y="440436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19" y="4587240"/>
            <a:ext cx="4754880" cy="457200"/>
          </a:xfrm>
          <a:prstGeom prst="rect">
            <a:avLst/>
          </a:prstGeom>
          <a:noFill/>
        </p:spPr>
        <p:txBody>
          <a:bodyPr wrap="square" lIns="0" rIns="0" tIns="0" bIns="0" anchor="t">
            <a:spAutoFit/>
          </a:bodyPr>
          <a:lstStyle/>
          <a:p>
            <a:pPr algn="l"/>
            <a:r>
              <a:rPr sz="2200" b="1" i="0">
                <a:solidFill>
                  <a:srgbClr val="4F46E5"/>
                </a:solidFill>
                <a:latin typeface="Calibri"/>
              </a:rPr>
              <a:t>RAG</a:t>
            </a:r>
          </a:p>
        </p:txBody>
      </p:sp>
      <p:sp>
        <p:nvSpPr>
          <p:cNvPr id="19" name="TextBox 18"/>
          <p:cNvSpPr txBox="1"/>
          <p:nvPr/>
        </p:nvSpPr>
        <p:spPr>
          <a:xfrm>
            <a:off x="960119" y="5090160"/>
            <a:ext cx="4754880" cy="396239"/>
          </a:xfrm>
          <a:prstGeom prst="rect">
            <a:avLst/>
          </a:prstGeom>
          <a:noFill/>
        </p:spPr>
        <p:txBody>
          <a:bodyPr wrap="square" lIns="0" rIns="0" tIns="0" bIns="0" anchor="t">
            <a:spAutoFit/>
          </a:bodyPr>
          <a:lstStyle/>
          <a:p>
            <a:pPr algn="l"/>
            <a:r>
              <a:rPr sz="1800" b="0" i="0">
                <a:solidFill>
                  <a:srgbClr val="1F2933"/>
                </a:solidFill>
                <a:latin typeface="Calibri"/>
              </a:rPr>
              <a:t>Look up documents, then answer.</a:t>
            </a:r>
          </a:p>
        </p:txBody>
      </p:sp>
      <p:sp>
        <p:nvSpPr>
          <p:cNvPr id="20" name="Rounded Rectangle 19"/>
          <p:cNvSpPr/>
          <p:nvPr/>
        </p:nvSpPr>
        <p:spPr>
          <a:xfrm>
            <a:off x="6217920" y="440436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59" y="4587240"/>
            <a:ext cx="4754880" cy="457200"/>
          </a:xfrm>
          <a:prstGeom prst="rect">
            <a:avLst/>
          </a:prstGeom>
          <a:noFill/>
        </p:spPr>
        <p:txBody>
          <a:bodyPr wrap="square" lIns="0" rIns="0" tIns="0" bIns="0" anchor="t">
            <a:spAutoFit/>
          </a:bodyPr>
          <a:lstStyle/>
          <a:p>
            <a:pPr algn="l"/>
            <a:r>
              <a:rPr sz="2200" b="1" i="0">
                <a:solidFill>
                  <a:srgbClr val="4F46E5"/>
                </a:solidFill>
                <a:latin typeface="Calibri"/>
              </a:rPr>
              <a:t>MCP</a:t>
            </a:r>
          </a:p>
        </p:txBody>
      </p:sp>
      <p:sp>
        <p:nvSpPr>
          <p:cNvPr id="22" name="TextBox 21"/>
          <p:cNvSpPr txBox="1"/>
          <p:nvPr/>
        </p:nvSpPr>
        <p:spPr>
          <a:xfrm>
            <a:off x="6537959" y="5090160"/>
            <a:ext cx="4754880" cy="396239"/>
          </a:xfrm>
          <a:prstGeom prst="rect">
            <a:avLst/>
          </a:prstGeom>
          <a:noFill/>
        </p:spPr>
        <p:txBody>
          <a:bodyPr wrap="square" lIns="0" rIns="0" tIns="0" bIns="0" anchor="t">
            <a:spAutoFit/>
          </a:bodyPr>
          <a:lstStyle/>
          <a:p>
            <a:pPr algn="l"/>
            <a:r>
              <a:rPr sz="1800" b="0" i="0">
                <a:solidFill>
                  <a:srgbClr val="1F2933"/>
                </a:solidFill>
                <a:latin typeface="Calibri"/>
              </a:rPr>
              <a:t>A standard plug for tools.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Five questions you will answer by the end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Oval 4"/>
          <p:cNvSpPr/>
          <p:nvPr/>
        </p:nvSpPr>
        <p:spPr>
          <a:xfrm>
            <a:off x="640080" y="1783080"/>
            <a:ext cx="914400" cy="91440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4F46E5"/>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Workflow or agent: which one fits a task?</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4F46E5"/>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stops a refund being paid twice?</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4F46E5"/>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How do you know a change made it worse?</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4F46E5"/>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can a malicious ticket make it do?</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4F46E5"/>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does a ticket cost, and how is it capped?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hello world to enterprise</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