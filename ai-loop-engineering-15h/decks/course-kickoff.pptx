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first teaching session. Over the course you will build an agent loop for a fictional shop, Brightside Outfitters. The loop will stop on a check a machine can run, retry safely, ask a human before risky writes, run unattended on a schedule, survive a crash, and be traced and budgeted like any production service. The course has 33 lessons, about 13 hours of work, four chapters and three levels. Today we look at the core idea, one first line of code, the plan, the setup and how you will know you have learned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something everyone has used. A thermostat does not make you switch the heater on every hour. You set a target, a sensor checks the room, and the system decides when to switch on and off. Loop engineering does the same for an AI agent: you set the goal and the checks, the model does the work inside them, and the system decides when to stop. Here the analogy breaks. A thermostat's sensor is reliable. A loop's check is only as good as the test or rule behind it: a weak test passes bad work, and the loop still reports 'done'. So every loop in this course has a check you can run, and a person who reads the handoffs.</a:t>
            </a:r>
          </a:p>
          <a:p/>
          <a:p>
            <a:r>
              <a:t>From lessons: 01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concrete about the finish line. The course is built to give you a loop that stops on a check the machine can run, not on the model's word, which lessons 05 and 07 teach. It retries transient errors with backoff, and it makes a refund write safe to repeat, as lesson 13 shows with an idempotency key. It pauses for a person before a risky write (lesson 22). It runs unattended, survives a crash, and can be stopped by a kill switch (lessons 26a and 26b). Each card is a chapter's promise, and each chapter will end with a checkpoint that proves it.</a:t>
            </a:r>
          </a:p>
          <a:p/>
          <a:p>
            <a:r>
              <a:t>From lessons: 05, 07, 13, 22, 26a, 26b</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lesson's own definition and say it slowly. The loop is not the model. It is the system around the model: what starts a run, what counts as done, where memory lives, and when to stop. The popular term is young. Practitioners coined it in 2026; Addy Osmani wrote one of the early essays, dated 7 June 2026 (addyosmani.com/blog/loop-engineering/), and Anthropic's guide names four loop types: turn-based, goal-based, time-based and proactive (claude.com/blog/getting-started-with-loops). The evidence is thin. One workshop paper (arXiv 2608.21884) found 217 autonomous agent loops in 36,710 public GitHub repositories, which is 0.59 percent, and no measured benefit yet. So measure the benefit in your own team.</a:t>
            </a:r>
          </a:p>
          <a:p/>
          <a:p>
            <a:r>
              <a:t>From lessons: 01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first code of the course, from lesson 05. A budget is a set of caps for one run: turns, tokens, dollars and time. The lesson's function exceeded returns the name of the first cap reached. The slide shows the turns check, copied from the lesson; the dots stand for the token, dollar and time checks, written the same way. The lesson's cell runs four budgets, one cap each, and prints four rows: turns, tokens, usd and time. Here the output is the turns row. Ask the question the lesson asks: why is a cap checked after a reply, so the last reply can overshoot? You will build this into the desk loop in chapter 1.</a:t>
            </a:r>
          </a:p>
          <a:p/>
          <a:p>
            <a:r>
              <a:t>From lessons: 05</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picture left to right, then point at the arrow back. A trigger starts the run: a schedule, an event, or a person. The goal is an end state a machine can check. The model call and its tools do the work inside the run, and each tool result returns to the model as an observation it reads next. The verifier runs the check, and the stop rule decides: done, stuck, over budget, or hand off to a person. The four exits are the lesson 06 vocabulary. If the check fails and the caps allow it, the loop goes back to the model. Everything the course builds is a part of this picture.</a:t>
            </a:r>
          </a:p>
          <a:p/>
          <a:p>
            <a:r>
              <a:t>From lessons: 01, 05, 07</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running example is the Brightside Outfitters support desk, a fictional shop, and the pocket-cart repo for tests. Each chapter adds one layer to the same app. Checkpoint 08 closes chapter 1 with a desk loop that has caps, a verifier and a stuck detector. Checkpoint 18 closes chapter 2 with a Ralph loop, a checker and a CI eval gate. Chapters 3 and 4 will add approvals, scheduled runs, one git worktree per run, and a durable, traced fleet, one step at a time. The app will live in its own folder, with a step-by-step guide, so the notebooks stay complete on their own.</a:t>
            </a:r>
          </a:p>
          <a:p/>
          <a:p>
            <a:r>
              <a:t>From lessons: 08, 18</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row is a chapter from the syllabus, with its level, lesson count and hours filled in from the course plan. Chapter 1 is the Basic level, chapter 2 is Intermediate, and chapters 3 and 4 are Advanced. Most lessons take 20 to 30 minutes, and the chapter 4 capstone takes longer. Theory lessons, such as 01, 09 and 19, are concept lessons with little or no code. On the Essentials path you skip the professional lessons 15 and 16 and keep the core ones.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notebook at the goal, then read Why it matters to see the problem without this idea. Run the cells in order. The model calls are recorded once and replayed later, so the notebook shows real outputs and you need no key to rerun it. Try-it cells ask you to predict or change something; the answer sits in a hidden cell, so check after you have tried. Each core lesson closes with an Interview line, one question and a strong answer, which is the same question you will get in a developer interview. Checkpoints, such as lessons 08 and 18, bring each chapter together.</a:t>
            </a:r>
          </a:p>
          <a:p/>
          <a:p>
            <a:r>
              <a:t>From lessons: 02, 08</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Basic is for anyone who writes Python and calls a web API. It teaches the model call, the tools, and the loop written by hand, with caps and a verifier. Intermediate adds control: outer loops that start each step with fresh context, state kept outside the model, retries with idempotent writes, and a separate checker. Advanced is production and enterprise: runs that start on a schedule or event, approvals before risky writes, isolated runs, then durable runs and a kill switch. Traces, cost and tenancy come after those. The three levels are one course. Each builds on the one before, and together they come to about 13 hours.</a:t>
            </a:r>
          </a:p>
          <a:p/>
          <a:p>
            <a:r>
              <a:t>From lessons: 08, 18</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up before lesson 02. Python 3.12 is the language for everything. The model key is read from this course's .env file; the committed template .env.example lists the names, with placeholders only. Never paste a key into a notebook, a slide or a chat. Gemini is the default model, and Vertex AI works too, with a project and a location. An Anthropic key is optional, for the live Claude walkthrough in lesson 16, which runs without a key. Docker and Compose are needed only for the fleet lesson 28b, which comes later. You will be asked which option you want just before the lessons that need one.</a:t>
            </a:r>
          </a:p>
          <a:p/>
          <a:p>
            <a:r>
              <a:t>From lessons: 02, 11, 12, 16, 21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Learning is proven three ways. The checkpoints are projects: lesson 08 builds a desk loop with caps, a verifier and a stuck detector, and lesson 18 builds a Ralph loop with a checker and a CI eval gate. The later chapters will close with checkpoints of the same kind. The interview lines test whether you can explain the choice, not just run the code; the lesson 05 example is a question you will be asked. The machine check is the idea behind lesson 07: the pytest exit code, not the model's word, decides done.</a:t>
            </a:r>
          </a:p>
          <a:p/>
          <a:p>
            <a:r>
              <a:t>From lessons: 08, 18</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six words come up in almost every lesson. A turn is one model call, and a turn cap limits them. A verifier is the check that decides done; in lesson 07 it is pytest, and its exit code 0 is the only done. An observation is what a tool returns to the model. The harness is the environment one run lives in, and a handoff is the exit that gives the case to a person. Idempotent means safe to repeat: a refund request sent twice must refund once. The lessons explain each word where it first appears; this slide is the glossary you can keep open.</a:t>
            </a:r>
          </a:p>
          <a:p/>
          <a:p>
            <a:r>
              <a:t>From lessons: 01, 03, 05, 07, 13</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these in your own words by the end. The first is the lesson 05 interview question: caps on turns, tokens, dollars and time, counted after each reply, with the last reply allowed to overshoot. The second is the verifier idea from lesson 07. The third is the approval exit from lesson 22, and lesson 23 covers the permissions behind it. The fourth is durable resume and idempotent writes, from lessons 13 and 26a. Answer each question with the lesson's own example, not a memory of a tool.</a:t>
            </a:r>
          </a:p>
          <a:p/>
          <a:p>
            <a:r>
              <a:t>From lessons: 05, 07, 13, 22, 23, 26a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action. Open lesson 01 today. It defines a loop and shows the research behind the term, including how little measured evidence exists so far. Then lesson 02 makes your first model call, with recorded replies, so you can rerun it without a key. Before you start, check the four items on the setup slide. If you have a model key, put it in the .env file, never in a notebook, a slide or a chat.</a:t>
            </a:r>
          </a:p>
          <a:p/>
          <a:p>
            <a:r>
              <a:t>From lessons: 01, 02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3" name="TextBox 2"/>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a:t>
            </a:r>
          </a:p>
        </p:txBody>
      </p:sp>
      <p:sp>
        <p:nvSpPr>
          <p:cNvPr id="4" name="Oval 3"/>
          <p:cNvSpPr/>
          <p:nvPr/>
        </p:nvSpPr>
        <p:spPr>
          <a:xfrm>
            <a:off x="822960" y="146304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Lightning Bolt 4"/>
          <p:cNvSpPr/>
          <p:nvPr/>
        </p:nvSpPr>
        <p:spPr>
          <a:xfrm>
            <a:off x="1028700" y="1668780"/>
            <a:ext cx="411480" cy="411480"/>
          </a:xfrm>
          <a:prstGeom prst="lightningBol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560320"/>
            <a:ext cx="7863840" cy="1463040"/>
          </a:xfrm>
          <a:prstGeom prst="rect">
            <a:avLst/>
          </a:prstGeom>
          <a:noFill/>
        </p:spPr>
        <p:txBody>
          <a:bodyPr wrap="square" lIns="0" rIns="0" tIns="0" bIns="0" anchor="b">
            <a:spAutoFit/>
          </a:bodyPr>
          <a:lstStyle/>
          <a:p>
            <a:pPr algn="l"/>
            <a:r>
              <a:rPr sz="4000" b="1" i="0">
                <a:solidFill>
                  <a:srgbClr val="1F2933"/>
                </a:solidFill>
                <a:latin typeface="Calibri"/>
              </a:rPr>
              <a:t>AI loop engineering: from zero to enterprise</a:t>
            </a:r>
          </a:p>
        </p:txBody>
      </p:sp>
      <p:sp>
        <p:nvSpPr>
          <p:cNvPr id="7" name="TextBox 6"/>
          <p:cNvSpPr txBox="1"/>
          <p:nvPr/>
        </p:nvSpPr>
        <p:spPr>
          <a:xfrm>
            <a:off x="822960" y="4160520"/>
            <a:ext cx="10515600" cy="548640"/>
          </a:xfrm>
          <a:prstGeom prst="rect">
            <a:avLst/>
          </a:prstGeom>
          <a:noFill/>
        </p:spPr>
        <p:txBody>
          <a:bodyPr wrap="square" lIns="0" rIns="0" tIns="0" bIns="0" anchor="t">
            <a:spAutoFit/>
          </a:bodyPr>
          <a:lstStyle/>
          <a:p>
            <a:pPr algn="l"/>
            <a:r>
              <a:rPr sz="2000" b="0" i="0">
                <a:solidFill>
                  <a:srgbClr val="4F46E5"/>
                </a:solidFill>
                <a:latin typeface="Calibri"/>
              </a:rPr>
              <a:t>Course kickoff · 33 lessons · about 13 hours</a:t>
            </a:r>
          </a:p>
        </p:txBody>
      </p:sp>
      <p:sp>
        <p:nvSpPr>
          <p:cNvPr id="8" name="TextBox 7"/>
          <p:cNvSpPr txBox="1"/>
          <p:nvPr/>
        </p:nvSpPr>
        <p:spPr>
          <a:xfrm>
            <a:off x="822960" y="4800600"/>
            <a:ext cx="6858000" cy="457200"/>
          </a:xfrm>
          <a:prstGeom prst="rect">
            <a:avLst/>
          </a:prstGeom>
          <a:noFill/>
        </p:spPr>
        <p:txBody>
          <a:bodyPr wrap="square" lIns="0" rIns="0" tIns="0" bIns="0" anchor="t">
            <a:spAutoFit/>
          </a:bodyPr>
          <a:lstStyle/>
          <a:p>
            <a:pPr algn="l"/>
            <a:r>
              <a:rPr sz="1400" b="0" i="0">
                <a:solidFill>
                  <a:srgbClr val="6B7280"/>
                </a:solidFill>
                <a:latin typeface="Calibri"/>
              </a:rPr>
              <a:t>For Developers who write Python and call a web API</a:t>
            </a:r>
          </a:p>
        </p:txBody>
      </p:sp>
      <p:cxnSp>
        <p:nvCxnSpPr>
          <p:cNvPr id="9" name="Connector 8"/>
          <p:cNvCxnSpPr/>
          <p:nvPr/>
        </p:nvCxnSpPr>
        <p:spPr>
          <a:xfrm flipH="1" flipV="1">
            <a:off x="8686800" y="1188719"/>
            <a:ext cx="1371600" cy="914401"/>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8430768" y="932687"/>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flipV="1">
            <a:off x="10058400" y="1097279"/>
            <a:ext cx="1280160" cy="1005841"/>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1082528" y="841247"/>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flipH="1">
            <a:off x="8595360" y="2103120"/>
            <a:ext cx="1463040" cy="914400"/>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8339328" y="2761487"/>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10058400" y="2103120"/>
            <a:ext cx="1371600" cy="1005840"/>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11173968" y="2852928"/>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flipV="1">
            <a:off x="10058400" y="548639"/>
            <a:ext cx="0" cy="1554481"/>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9802368" y="292607"/>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555480" y="1600199"/>
            <a:ext cx="1005840" cy="1005840"/>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thermostat is a loop, like your agent</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2</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A thermostat</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You set a target; a sensor checks it; the heater switches.</a:t>
            </a:r>
          </a:p>
        </p:txBody>
      </p:sp>
      <p:sp>
        <p:nvSpPr>
          <p:cNvPr id="9" name="Rounded Rectangle 8"/>
          <p:cNvSpPr/>
          <p:nvPr/>
        </p:nvSpPr>
        <p:spPr>
          <a:xfrm>
            <a:off x="6428232" y="1828800"/>
            <a:ext cx="5120640" cy="30175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4F46E5"/>
                </a:solidFill>
                <a:latin typeface="Calibri"/>
              </a:rPr>
              <a:t>A loop</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You set the goal and checks; the model works inside them.</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4F46E5"/>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The thermostat's sensor is reliable. A weak test passes bad work and still says 'done'.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By the end, your loop stops safely</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3</a:t>
            </a:r>
          </a:p>
        </p:txBody>
      </p:sp>
      <p:sp>
        <p:nvSpPr>
          <p:cNvPr id="5" name="Rounded Rectangle 4"/>
          <p:cNvSpPr/>
          <p:nvPr/>
        </p:nvSpPr>
        <p:spPr>
          <a:xfrm>
            <a:off x="640080" y="1828800"/>
            <a:ext cx="2487168"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05840" y="2194560"/>
            <a:ext cx="777240" cy="77724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onut 6"/>
          <p:cNvSpPr/>
          <p:nvPr/>
        </p:nvSpPr>
        <p:spPr>
          <a:xfrm>
            <a:off x="1200150" y="2388870"/>
            <a:ext cx="388620" cy="388620"/>
          </a:xfrm>
          <a:prstGeom prst="donu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200400"/>
            <a:ext cx="1755647" cy="731520"/>
          </a:xfrm>
          <a:prstGeom prst="rect">
            <a:avLst/>
          </a:prstGeom>
          <a:noFill/>
        </p:spPr>
        <p:txBody>
          <a:bodyPr wrap="square" lIns="0" rIns="0" tIns="0" bIns="0" anchor="t">
            <a:spAutoFit/>
          </a:bodyPr>
          <a:lstStyle/>
          <a:p>
            <a:pPr algn="l"/>
            <a:r>
              <a:rPr sz="2200" b="1" i="0">
                <a:solidFill>
                  <a:srgbClr val="1F2933"/>
                </a:solidFill>
                <a:latin typeface="Calibri"/>
              </a:rPr>
              <a:t>Stops on a check</a:t>
            </a:r>
          </a:p>
        </p:txBody>
      </p:sp>
      <p:sp>
        <p:nvSpPr>
          <p:cNvPr id="9" name="TextBox 8"/>
          <p:cNvSpPr txBox="1"/>
          <p:nvPr/>
        </p:nvSpPr>
        <p:spPr>
          <a:xfrm>
            <a:off x="1005840" y="3931920"/>
            <a:ext cx="1755647" cy="1371600"/>
          </a:xfrm>
          <a:prstGeom prst="rect">
            <a:avLst/>
          </a:prstGeom>
          <a:noFill/>
        </p:spPr>
        <p:txBody>
          <a:bodyPr wrap="square" lIns="0" rIns="0" tIns="0" bIns="0" anchor="t">
            <a:spAutoFit/>
          </a:bodyPr>
          <a:lstStyle/>
          <a:p>
            <a:pPr algn="l"/>
            <a:r>
              <a:rPr sz="1700" b="0" i="0">
                <a:solidFill>
                  <a:srgbClr val="1F2933"/>
                </a:solidFill>
                <a:latin typeface="Calibri"/>
              </a:rPr>
              <a:t>A test or rule ends the run, not the model.</a:t>
            </a:r>
          </a:p>
        </p:txBody>
      </p:sp>
      <p:sp>
        <p:nvSpPr>
          <p:cNvPr id="10" name="Rounded Rectangle 9"/>
          <p:cNvSpPr/>
          <p:nvPr/>
        </p:nvSpPr>
        <p:spPr>
          <a:xfrm>
            <a:off x="3447287" y="1828800"/>
            <a:ext cx="2487168"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813048" y="2194560"/>
            <a:ext cx="777240" cy="77724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ightning Bolt 11"/>
          <p:cNvSpPr/>
          <p:nvPr/>
        </p:nvSpPr>
        <p:spPr>
          <a:xfrm>
            <a:off x="4007358" y="2388870"/>
            <a:ext cx="388620" cy="388620"/>
          </a:xfrm>
          <a:prstGeom prst="lightningBol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13048" y="3200400"/>
            <a:ext cx="1755647" cy="731520"/>
          </a:xfrm>
          <a:prstGeom prst="rect">
            <a:avLst/>
          </a:prstGeom>
          <a:noFill/>
        </p:spPr>
        <p:txBody>
          <a:bodyPr wrap="square" lIns="0" rIns="0" tIns="0" bIns="0" anchor="t">
            <a:spAutoFit/>
          </a:bodyPr>
          <a:lstStyle/>
          <a:p>
            <a:pPr algn="l"/>
            <a:r>
              <a:rPr sz="2200" b="1" i="0">
                <a:solidFill>
                  <a:srgbClr val="1F2933"/>
                </a:solidFill>
                <a:latin typeface="Calibri"/>
              </a:rPr>
              <a:t>Retries safely</a:t>
            </a:r>
          </a:p>
        </p:txBody>
      </p:sp>
      <p:sp>
        <p:nvSpPr>
          <p:cNvPr id="14" name="TextBox 13"/>
          <p:cNvSpPr txBox="1"/>
          <p:nvPr/>
        </p:nvSpPr>
        <p:spPr>
          <a:xfrm>
            <a:off x="3813048" y="3931920"/>
            <a:ext cx="1755647" cy="1371600"/>
          </a:xfrm>
          <a:prstGeom prst="rect">
            <a:avLst/>
          </a:prstGeom>
          <a:noFill/>
        </p:spPr>
        <p:txBody>
          <a:bodyPr wrap="square" lIns="0" rIns="0" tIns="0" bIns="0" anchor="t">
            <a:spAutoFit/>
          </a:bodyPr>
          <a:lstStyle/>
          <a:p>
            <a:pPr algn="l"/>
            <a:r>
              <a:rPr sz="1700" b="0" i="0">
                <a:solidFill>
                  <a:srgbClr val="1F2933"/>
                </a:solidFill>
                <a:latin typeface="Calibri"/>
              </a:rPr>
              <a:t>Backoff; no double refunds.</a:t>
            </a:r>
          </a:p>
        </p:txBody>
      </p:sp>
      <p:sp>
        <p:nvSpPr>
          <p:cNvPr id="15" name="Rounded Rectangle 14"/>
          <p:cNvSpPr/>
          <p:nvPr/>
        </p:nvSpPr>
        <p:spPr>
          <a:xfrm>
            <a:off x="6254496" y="1828800"/>
            <a:ext cx="2487168"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620256" y="2194560"/>
            <a:ext cx="777240" cy="77724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miley Face 16"/>
          <p:cNvSpPr/>
          <p:nvPr/>
        </p:nvSpPr>
        <p:spPr>
          <a:xfrm>
            <a:off x="6814566" y="2388870"/>
            <a:ext cx="388620" cy="388620"/>
          </a:xfrm>
          <a:prstGeom prst="smileyFac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20256" y="3200400"/>
            <a:ext cx="1755647" cy="731520"/>
          </a:xfrm>
          <a:prstGeom prst="rect">
            <a:avLst/>
          </a:prstGeom>
          <a:noFill/>
        </p:spPr>
        <p:txBody>
          <a:bodyPr wrap="square" lIns="0" rIns="0" tIns="0" bIns="0" anchor="t">
            <a:spAutoFit/>
          </a:bodyPr>
          <a:lstStyle/>
          <a:p>
            <a:pPr algn="l"/>
            <a:r>
              <a:rPr sz="2200" b="1" i="0">
                <a:solidFill>
                  <a:srgbClr val="1F2933"/>
                </a:solidFill>
                <a:latin typeface="Calibri"/>
              </a:rPr>
              <a:t>Asks a human</a:t>
            </a:r>
          </a:p>
        </p:txBody>
      </p:sp>
      <p:sp>
        <p:nvSpPr>
          <p:cNvPr id="19" name="TextBox 18"/>
          <p:cNvSpPr txBox="1"/>
          <p:nvPr/>
        </p:nvSpPr>
        <p:spPr>
          <a:xfrm>
            <a:off x="6620256" y="3931920"/>
            <a:ext cx="1755647" cy="1371600"/>
          </a:xfrm>
          <a:prstGeom prst="rect">
            <a:avLst/>
          </a:prstGeom>
          <a:noFill/>
        </p:spPr>
        <p:txBody>
          <a:bodyPr wrap="square" lIns="0" rIns="0" tIns="0" bIns="0" anchor="t">
            <a:spAutoFit/>
          </a:bodyPr>
          <a:lstStyle/>
          <a:p>
            <a:pPr algn="l"/>
            <a:r>
              <a:rPr sz="1700" b="0" i="0">
                <a:solidFill>
                  <a:srgbClr val="1F2933"/>
                </a:solidFill>
                <a:latin typeface="Calibri"/>
              </a:rPr>
              <a:t>Pauses before a risky write, then resumes.</a:t>
            </a:r>
          </a:p>
        </p:txBody>
      </p:sp>
      <p:sp>
        <p:nvSpPr>
          <p:cNvPr id="20" name="Rounded Rectangle 19"/>
          <p:cNvSpPr/>
          <p:nvPr/>
        </p:nvSpPr>
        <p:spPr>
          <a:xfrm>
            <a:off x="9061703" y="1828800"/>
            <a:ext cx="2487168"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427463" y="2194560"/>
            <a:ext cx="777240" cy="77724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loud 21"/>
          <p:cNvSpPr/>
          <p:nvPr/>
        </p:nvSpPr>
        <p:spPr>
          <a:xfrm>
            <a:off x="9621774" y="2388870"/>
            <a:ext cx="388620" cy="388620"/>
          </a:xfrm>
          <a:prstGeom prst="cloud">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27463" y="3200400"/>
            <a:ext cx="1755647" cy="731520"/>
          </a:xfrm>
          <a:prstGeom prst="rect">
            <a:avLst/>
          </a:prstGeom>
          <a:noFill/>
        </p:spPr>
        <p:txBody>
          <a:bodyPr wrap="square" lIns="0" rIns="0" tIns="0" bIns="0" anchor="t">
            <a:spAutoFit/>
          </a:bodyPr>
          <a:lstStyle/>
          <a:p>
            <a:pPr algn="l"/>
            <a:r>
              <a:rPr sz="2200" b="1" i="0">
                <a:solidFill>
                  <a:srgbClr val="1F2933"/>
                </a:solidFill>
                <a:latin typeface="Calibri"/>
              </a:rPr>
              <a:t>Runs and survives</a:t>
            </a:r>
          </a:p>
        </p:txBody>
      </p:sp>
      <p:sp>
        <p:nvSpPr>
          <p:cNvPr id="24" name="TextBox 23"/>
          <p:cNvSpPr txBox="1"/>
          <p:nvPr/>
        </p:nvSpPr>
        <p:spPr>
          <a:xfrm>
            <a:off x="9427463" y="3931920"/>
            <a:ext cx="1755647" cy="1371600"/>
          </a:xfrm>
          <a:prstGeom prst="rect">
            <a:avLst/>
          </a:prstGeom>
          <a:noFill/>
        </p:spPr>
        <p:txBody>
          <a:bodyPr wrap="square" lIns="0" rIns="0" tIns="0" bIns="0" anchor="t">
            <a:spAutoFit/>
          </a:bodyPr>
          <a:lstStyle/>
          <a:p>
            <a:pPr algn="l"/>
            <a:r>
              <a:rPr sz="1700" b="0" i="0">
                <a:solidFill>
                  <a:srgbClr val="1F2933"/>
                </a:solidFill>
                <a:latin typeface="Calibri"/>
              </a:rPr>
              <a:t>Unattended runs with crash recovery and a kill switch.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Loop engineering designs the system around the agent</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4</a:t>
            </a:r>
          </a:p>
        </p:txBody>
      </p:sp>
      <p:sp>
        <p:nvSpPr>
          <p:cNvPr id="5" name="Rounded Rectangle 4"/>
          <p:cNvSpPr/>
          <p:nvPr/>
        </p:nvSpPr>
        <p:spPr>
          <a:xfrm>
            <a:off x="640080" y="1508760"/>
            <a:ext cx="10908792" cy="14173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1234440"/>
          </a:xfrm>
          <a:prstGeom prst="rect">
            <a:avLst/>
          </a:prstGeom>
          <a:noFill/>
        </p:spPr>
        <p:txBody>
          <a:bodyPr wrap="square" lIns="0" rIns="0" tIns="0" bIns="0" anchor="ctr">
            <a:spAutoFit/>
          </a:bodyPr>
          <a:lstStyle/>
          <a:p>
            <a:pPr algn="l"/>
            <a:r>
              <a:rPr sz="2600" b="1" i="0">
                <a:solidFill>
                  <a:srgbClr val="1F2933"/>
                </a:solidFill>
                <a:latin typeface="Calibri"/>
              </a:rPr>
              <a:t>Loop engineering is designing the system that prompts, checks, remembers and re-runs an agent, so a person does not drive it turn by turn.</a:t>
            </a:r>
          </a:p>
        </p:txBody>
      </p:sp>
      <p:sp>
        <p:nvSpPr>
          <p:cNvPr id="7" name="Rounded Rectangle 6"/>
          <p:cNvSpPr/>
          <p:nvPr/>
        </p:nvSpPr>
        <p:spPr>
          <a:xfrm>
            <a:off x="640080"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1972817" cy="777240"/>
          </a:xfrm>
          <a:prstGeom prst="rect">
            <a:avLst/>
          </a:prstGeom>
          <a:noFill/>
        </p:spPr>
        <p:txBody>
          <a:bodyPr wrap="square" lIns="0" rIns="0" tIns="0" bIns="0" anchor="b">
            <a:spAutoFit/>
          </a:bodyPr>
          <a:lstStyle/>
          <a:p>
            <a:pPr algn="l"/>
            <a:r>
              <a:rPr sz="2100" b="1" i="0">
                <a:solidFill>
                  <a:srgbClr val="4F46E5"/>
                </a:solidFill>
                <a:latin typeface="Calibri"/>
              </a:rPr>
              <a:t>Trigger</a:t>
            </a:r>
          </a:p>
        </p:txBody>
      </p:sp>
      <p:sp>
        <p:nvSpPr>
          <p:cNvPr id="9" name="TextBox 8"/>
          <p:cNvSpPr txBox="1"/>
          <p:nvPr/>
        </p:nvSpPr>
        <p:spPr>
          <a:xfrm>
            <a:off x="914400"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what starts each run</a:t>
            </a:r>
          </a:p>
        </p:txBody>
      </p:sp>
      <p:sp>
        <p:nvSpPr>
          <p:cNvPr id="10" name="Rounded Rectangle 9"/>
          <p:cNvSpPr/>
          <p:nvPr/>
        </p:nvSpPr>
        <p:spPr>
          <a:xfrm>
            <a:off x="3435857"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10177" y="3337560"/>
            <a:ext cx="1972817" cy="777240"/>
          </a:xfrm>
          <a:prstGeom prst="rect">
            <a:avLst/>
          </a:prstGeom>
          <a:noFill/>
        </p:spPr>
        <p:txBody>
          <a:bodyPr wrap="square" lIns="0" rIns="0" tIns="0" bIns="0" anchor="b">
            <a:spAutoFit/>
          </a:bodyPr>
          <a:lstStyle/>
          <a:p>
            <a:pPr algn="l"/>
            <a:r>
              <a:rPr sz="2100" b="1" i="0">
                <a:solidFill>
                  <a:srgbClr val="4F46E5"/>
                </a:solidFill>
                <a:latin typeface="Calibri"/>
              </a:rPr>
              <a:t>Goal and verifier</a:t>
            </a:r>
          </a:p>
        </p:txBody>
      </p:sp>
      <p:sp>
        <p:nvSpPr>
          <p:cNvPr id="12" name="TextBox 11"/>
          <p:cNvSpPr txBox="1"/>
          <p:nvPr/>
        </p:nvSpPr>
        <p:spPr>
          <a:xfrm>
            <a:off x="3710177"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a check a machine can run</a:t>
            </a:r>
          </a:p>
        </p:txBody>
      </p:sp>
      <p:sp>
        <p:nvSpPr>
          <p:cNvPr id="13" name="Rounded Rectangle 12"/>
          <p:cNvSpPr/>
          <p:nvPr/>
        </p:nvSpPr>
        <p:spPr>
          <a:xfrm>
            <a:off x="6231636"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05955" y="3337560"/>
            <a:ext cx="1972817" cy="777240"/>
          </a:xfrm>
          <a:prstGeom prst="rect">
            <a:avLst/>
          </a:prstGeom>
          <a:noFill/>
        </p:spPr>
        <p:txBody>
          <a:bodyPr wrap="square" lIns="0" rIns="0" tIns="0" bIns="0" anchor="b">
            <a:spAutoFit/>
          </a:bodyPr>
          <a:lstStyle/>
          <a:p>
            <a:pPr algn="l"/>
            <a:r>
              <a:rPr sz="2100" b="1" i="0">
                <a:solidFill>
                  <a:srgbClr val="4F46E5"/>
                </a:solidFill>
                <a:latin typeface="Calibri"/>
              </a:rPr>
              <a:t>State</a:t>
            </a:r>
          </a:p>
        </p:txBody>
      </p:sp>
      <p:sp>
        <p:nvSpPr>
          <p:cNvPr id="15" name="TextBox 14"/>
          <p:cNvSpPr txBox="1"/>
          <p:nvPr/>
        </p:nvSpPr>
        <p:spPr>
          <a:xfrm>
            <a:off x="6505955"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memory outside the model</a:t>
            </a:r>
          </a:p>
        </p:txBody>
      </p:sp>
      <p:sp>
        <p:nvSpPr>
          <p:cNvPr id="16" name="Rounded Rectangle 15"/>
          <p:cNvSpPr/>
          <p:nvPr/>
        </p:nvSpPr>
        <p:spPr>
          <a:xfrm>
            <a:off x="9027413"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01734" y="3337560"/>
            <a:ext cx="1972817" cy="777240"/>
          </a:xfrm>
          <a:prstGeom prst="rect">
            <a:avLst/>
          </a:prstGeom>
          <a:noFill/>
        </p:spPr>
        <p:txBody>
          <a:bodyPr wrap="square" lIns="0" rIns="0" tIns="0" bIns="0" anchor="b">
            <a:spAutoFit/>
          </a:bodyPr>
          <a:lstStyle/>
          <a:p>
            <a:pPr algn="l"/>
            <a:r>
              <a:rPr sz="2100" b="1" i="0">
                <a:solidFill>
                  <a:srgbClr val="4F46E5"/>
                </a:solidFill>
                <a:latin typeface="Calibri"/>
              </a:rPr>
              <a:t>Stop rules</a:t>
            </a:r>
          </a:p>
        </p:txBody>
      </p:sp>
      <p:sp>
        <p:nvSpPr>
          <p:cNvPr id="18" name="TextBox 17"/>
          <p:cNvSpPr txBox="1"/>
          <p:nvPr/>
        </p:nvSpPr>
        <p:spPr>
          <a:xfrm>
            <a:off x="9301734"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done, stuck, over budget, or handoff</a:t>
            </a:r>
          </a:p>
        </p:txBody>
      </p:sp>
      <p:sp>
        <p:nvSpPr>
          <p:cNvPr id="19" name="TextBox 18"/>
          <p:cNvSpPr txBox="1"/>
          <p:nvPr/>
        </p:nvSpPr>
        <p:spPr>
          <a:xfrm>
            <a:off x="640080" y="5486400"/>
            <a:ext cx="10881360" cy="548640"/>
          </a:xfrm>
          <a:prstGeom prst="rect">
            <a:avLst/>
          </a:prstGeom>
          <a:noFill/>
        </p:spPr>
        <p:txBody>
          <a:bodyPr wrap="square" lIns="0" rIns="0" tIns="0" bIns="0" anchor="t">
            <a:spAutoFit/>
          </a:bodyPr>
          <a:lstStyle/>
          <a:p>
            <a:pPr algn="l"/>
            <a:r>
              <a:rPr sz="1700" b="0" i="1">
                <a:solidFill>
                  <a:srgbClr val="6B7280"/>
                </a:solidFill>
                <a:latin typeface="Calibri"/>
              </a:rPr>
              <a:t>Example: Refund: the verifier reads the order; refunds over a limit go to a person.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First taste: the first cap reached stops the run</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5</a:t>
            </a:r>
          </a:p>
        </p:txBody>
      </p:sp>
      <p:sp>
        <p:nvSpPr>
          <p:cNvPr id="5" name="Rounded Rectangle 4"/>
          <p:cNvSpPr/>
          <p:nvPr/>
        </p:nvSpPr>
        <p:spPr>
          <a:xfrm>
            <a:off x="640080" y="1554480"/>
            <a:ext cx="7315200" cy="2164080"/>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2060448"/>
            <a:ext cx="7168896" cy="377952"/>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1" y="2401824"/>
            <a:ext cx="7168896" cy="377952"/>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6858000" cy="1889760"/>
          </a:xfrm>
          <a:prstGeom prst="rect">
            <a:avLst/>
          </a:prstGeom>
          <a:noFill/>
        </p:spPr>
        <p:txBody>
          <a:bodyPr wrap="none" lIns="0" rIns="0" tIns="0" bIns="0">
            <a:noAutofit/>
          </a:bodyPr>
          <a:lstStyle/>
          <a:p>
            <a:pPr algn="l">
              <a:lnSpc>
                <a:spcPct val="112000"/>
              </a:lnSpc>
            </a:pPr>
            <a:r>
              <a:rPr sz="2000" b="1" i="0">
                <a:solidFill>
                  <a:srgbClr val="4F46E5"/>
                </a:solidFill>
                <a:latin typeface="Consolas"/>
              </a:rPr>
              <a:t>def</a:t>
            </a:r>
            <a:r>
              <a:rPr sz="2000" b="0" i="0">
                <a:solidFill>
                  <a:srgbClr val="1F2933"/>
                </a:solidFill>
                <a:latin typeface="Consolas"/>
              </a:rPr>
              <a:t> </a:t>
            </a:r>
            <a:r>
              <a:rPr sz="2000" b="1" i="0">
                <a:solidFill>
                  <a:srgbClr val="1F2933"/>
                </a:solidFill>
                <a:latin typeface="Consolas"/>
              </a:rPr>
              <a:t>exceeded</a:t>
            </a:r>
            <a:r>
              <a:rPr sz="2000" b="0" i="0">
                <a:solidFill>
                  <a:srgbClr val="1F2933"/>
                </a:solidFill>
                <a:latin typeface="Consolas"/>
              </a:rPr>
              <a:t>(budget):</a:t>
            </a:r>
          </a:p>
          <a:p>
            <a:pPr algn="l">
              <a:lnSpc>
                <a:spcPct val="112000"/>
              </a:lnSpc>
            </a:pPr>
            <a:r>
              <a:rPr sz="2000" b="0" i="0">
                <a:solidFill>
                  <a:srgbClr val="1F2933"/>
                </a:solidFill>
                <a:latin typeface="Consolas"/>
              </a:rPr>
              <a:t>    </a:t>
            </a:r>
            <a:r>
              <a:rPr sz="2000" b="1" i="0">
                <a:solidFill>
                  <a:srgbClr val="4F46E5"/>
                </a:solidFill>
                <a:latin typeface="Consolas"/>
              </a:rPr>
              <a:t>if</a:t>
            </a:r>
            <a:r>
              <a:rPr sz="2000" b="0" i="0">
                <a:solidFill>
                  <a:srgbClr val="1F2933"/>
                </a:solidFill>
                <a:latin typeface="Consolas"/>
              </a:rPr>
              <a:t> budget.turns &gt;= budget.max_turns:</a:t>
            </a:r>
          </a:p>
          <a:p>
            <a:pPr algn="l">
              <a:lnSpc>
                <a:spcPct val="112000"/>
              </a:lnSpc>
            </a:pPr>
            <a:r>
              <a:rPr sz="2000" b="0" i="0">
                <a:solidFill>
                  <a:srgbClr val="1F2933"/>
                </a:solidFill>
                <a:latin typeface="Consolas"/>
              </a:rPr>
              <a:t>        </a:t>
            </a:r>
            <a:r>
              <a:rPr sz="2000" b="1" i="0">
                <a:solidFill>
                  <a:srgbClr val="4F46E5"/>
                </a:solidFill>
                <a:latin typeface="Consolas"/>
              </a:rPr>
              <a:t>return</a:t>
            </a:r>
            <a:r>
              <a:rPr sz="2000" b="0" i="0">
                <a:solidFill>
                  <a:srgbClr val="1F2933"/>
                </a:solidFill>
                <a:latin typeface="Consolas"/>
              </a:rPr>
              <a:t> </a:t>
            </a:r>
            <a:r>
              <a:rPr sz="2000" b="0" i="0">
                <a:solidFill>
                  <a:srgbClr val="B45309"/>
                </a:solidFill>
                <a:latin typeface="Consolas"/>
              </a:rPr>
              <a:t>"turn_cap"</a:t>
            </a:r>
          </a:p>
          <a:p>
            <a:pPr algn="l">
              <a:lnSpc>
                <a:spcPct val="112000"/>
              </a:lnSpc>
            </a:pPr>
            <a:r>
              <a:rPr sz="2000" b="0" i="0">
                <a:solidFill>
                  <a:srgbClr val="1F2933"/>
                </a:solidFill>
                <a:latin typeface="Consolas"/>
              </a:rPr>
              <a:t>    ...</a:t>
            </a:r>
          </a:p>
          <a:p>
            <a:pPr algn="l">
              <a:lnSpc>
                <a:spcPct val="112000"/>
              </a:lnSpc>
            </a:pPr>
            <a:r>
              <a:rPr sz="2000" b="0" i="0">
                <a:solidFill>
                  <a:srgbClr val="0E7490"/>
                </a:solidFill>
                <a:latin typeface="Consolas"/>
              </a:rPr>
              <a:t>print</a:t>
            </a:r>
            <a:r>
              <a:rPr sz="2000" b="0" i="0">
                <a:solidFill>
                  <a:srgbClr val="1F2933"/>
                </a:solidFill>
                <a:latin typeface="Consolas"/>
              </a:rPr>
              <a:t>(name, </a:t>
            </a:r>
            <a:r>
              <a:rPr sz="2000" b="0" i="0">
                <a:solidFill>
                  <a:srgbClr val="B45309"/>
                </a:solidFill>
                <a:latin typeface="Consolas"/>
              </a:rPr>
              <a:t>"-&gt;"</a:t>
            </a:r>
            <a:r>
              <a:rPr sz="2000" b="0" i="0">
                <a:solidFill>
                  <a:srgbClr val="1F2933"/>
                </a:solidFill>
                <a:latin typeface="Consolas"/>
              </a:rPr>
              <a:t>, exceeded(b))</a:t>
            </a:r>
          </a:p>
        </p:txBody>
      </p:sp>
      <p:sp>
        <p:nvSpPr>
          <p:cNvPr id="9" name="Rounded Rectangle 8"/>
          <p:cNvSpPr/>
          <p:nvPr/>
        </p:nvSpPr>
        <p:spPr>
          <a:xfrm>
            <a:off x="640080" y="3828288"/>
            <a:ext cx="7315200" cy="658368"/>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901440"/>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1" name="TextBox 10"/>
          <p:cNvSpPr txBox="1"/>
          <p:nvPr/>
        </p:nvSpPr>
        <p:spPr>
          <a:xfrm>
            <a:off x="1828800" y="3919727"/>
            <a:ext cx="5943600" cy="384048"/>
          </a:xfrm>
          <a:prstGeom prst="rect">
            <a:avLst/>
          </a:prstGeom>
          <a:noFill/>
        </p:spPr>
        <p:txBody>
          <a:bodyPr wrap="square" lIns="0" rIns="0" tIns="0" bIns="0" anchor="t">
            <a:spAutoFit/>
          </a:bodyPr>
          <a:lstStyle/>
          <a:p>
            <a:pPr algn="l"/>
            <a:r>
              <a:rPr sz="1600" b="0" i="0">
                <a:solidFill>
                  <a:srgbClr val="E5E7EB"/>
                </a:solidFill>
                <a:latin typeface="Consolas"/>
              </a:rPr>
              <a:t>turns -&gt; turn_cap</a:t>
            </a:r>
          </a:p>
        </p:txBody>
      </p:sp>
      <p:sp>
        <p:nvSpPr>
          <p:cNvPr id="12" name="TextBox 11"/>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4F46E5"/>
                </a:solidFill>
                <a:latin typeface="Calibri"/>
              </a:rPr>
              <a:t>●  </a:t>
            </a:r>
            <a:r>
              <a:rPr sz="1900">
                <a:solidFill>
                  <a:srgbClr val="1F2933"/>
                </a:solidFill>
                <a:latin typeface="Calibri"/>
              </a:rPr>
              <a:t>Each cap returns its name; the first one reached is returned.</a:t>
            </a:r>
          </a:p>
          <a:p>
            <a:pPr>
              <a:spcAft>
                <a:spcPts val="1000"/>
              </a:spcAft>
            </a:pPr>
            <a:r>
              <a:rPr sz="1300">
                <a:solidFill>
                  <a:srgbClr val="4F46E5"/>
                </a:solidFill>
                <a:latin typeface="Calibri"/>
              </a:rPr>
              <a:t>●  </a:t>
            </a:r>
            <a:r>
              <a:rPr sz="1900">
                <a:solidFill>
                  <a:srgbClr val="1F2933"/>
                </a:solidFill>
                <a:latin typeface="Calibri"/>
              </a:rPr>
              <a:t>The counters count up after each reply, then the caps are checked.</a:t>
            </a:r>
          </a:p>
        </p:txBody>
      </p:sp>
      <p:sp>
        <p:nvSpPr>
          <p:cNvPr id="13" name="TextBox 12"/>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Real output of the lesson's cap checks, shortened to the lines that show them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Every run follows the same five steps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6</a:t>
            </a:r>
          </a:p>
        </p:txBody>
      </p:sp>
      <p:sp>
        <p:nvSpPr>
          <p:cNvPr id="5" name="Rounded Rectangle 4"/>
          <p:cNvSpPr/>
          <p:nvPr/>
        </p:nvSpPr>
        <p:spPr>
          <a:xfrm>
            <a:off x="640080" y="1645920"/>
            <a:ext cx="10908792" cy="41148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3268979"/>
            <a:ext cx="1779422"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Trigger: schedule, event or person</a:t>
            </a:r>
          </a:p>
        </p:txBody>
      </p:sp>
      <p:cxnSp>
        <p:nvCxnSpPr>
          <p:cNvPr id="7" name="Connector 6"/>
          <p:cNvCxnSpPr/>
          <p:nvPr/>
        </p:nvCxnSpPr>
        <p:spPr>
          <a:xfrm>
            <a:off x="2648102" y="3703320"/>
            <a:ext cx="320040" cy="0"/>
          </a:xfrm>
          <a:prstGeom prst="line">
            <a:avLst/>
          </a:prstGeom>
          <a:ln w="2540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013862" y="3268979"/>
            <a:ext cx="1779422"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Goal: a checkable end state</a:t>
            </a:r>
          </a:p>
        </p:txBody>
      </p:sp>
      <p:cxnSp>
        <p:nvCxnSpPr>
          <p:cNvPr id="9" name="Connector 8"/>
          <p:cNvCxnSpPr/>
          <p:nvPr/>
        </p:nvCxnSpPr>
        <p:spPr>
          <a:xfrm>
            <a:off x="4839004" y="3703320"/>
            <a:ext cx="320040" cy="0"/>
          </a:xfrm>
          <a:prstGeom prst="line">
            <a:avLst/>
          </a:prstGeom>
          <a:ln w="2540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204764" y="3268979"/>
            <a:ext cx="1779422"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Model call and its tools</a:t>
            </a:r>
          </a:p>
        </p:txBody>
      </p:sp>
      <p:cxnSp>
        <p:nvCxnSpPr>
          <p:cNvPr id="11" name="Connector 10"/>
          <p:cNvCxnSpPr/>
          <p:nvPr/>
        </p:nvCxnSpPr>
        <p:spPr>
          <a:xfrm>
            <a:off x="7029907" y="3703320"/>
            <a:ext cx="320040" cy="0"/>
          </a:xfrm>
          <a:prstGeom prst="line">
            <a:avLst/>
          </a:prstGeom>
          <a:ln w="2540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395667" y="3268979"/>
            <a:ext cx="1779422"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Verifier: test or order check</a:t>
            </a:r>
          </a:p>
        </p:txBody>
      </p:sp>
      <p:cxnSp>
        <p:nvCxnSpPr>
          <p:cNvPr id="13" name="Connector 12"/>
          <p:cNvCxnSpPr/>
          <p:nvPr/>
        </p:nvCxnSpPr>
        <p:spPr>
          <a:xfrm>
            <a:off x="9220809" y="3703320"/>
            <a:ext cx="320040" cy="0"/>
          </a:xfrm>
          <a:prstGeom prst="line">
            <a:avLst/>
          </a:prstGeom>
          <a:ln w="2540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586569" y="3268979"/>
            <a:ext cx="1779422" cy="868680"/>
          </a:xfrm>
          <a:prstGeom prst="roundRect">
            <a:avLst>
              <a:gd name="adj" fmla="val 12000"/>
            </a:avLst>
          </a:prstGeom>
          <a:solidFill>
            <a:srgbClr val="4F46E5"/>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1">
                <a:solidFill>
                  <a:srgbClr val="FFFFFF"/>
                </a:solidFill>
                <a:latin typeface="Calibri"/>
              </a:rPr>
              <a:t>Stop: done, or hand off</a:t>
            </a:r>
          </a:p>
        </p:txBody>
      </p:sp>
      <p:sp>
        <p:nvSpPr>
          <p:cNvPr id="15" name="TextBox 14"/>
          <p:cNvSpPr txBox="1"/>
          <p:nvPr/>
        </p:nvSpPr>
        <p:spPr>
          <a:xfrm>
            <a:off x="640080" y="5852160"/>
            <a:ext cx="10881360" cy="411480"/>
          </a:xfrm>
          <a:prstGeom prst="rect">
            <a:avLst/>
          </a:prstGeom>
          <a:noFill/>
        </p:spPr>
        <p:txBody>
          <a:bodyPr wrap="square" lIns="0" rIns="0" tIns="0" bIns="0" anchor="t">
            <a:spAutoFit/>
          </a:bodyPr>
          <a:lstStyle/>
          <a:p>
            <a:pPr algn="l"/>
            <a:r>
              <a:rPr sz="1400" b="0" i="0">
                <a:solidFill>
                  <a:srgbClr val="6B7280"/>
                </a:solidFill>
                <a:latin typeface="Calibri"/>
              </a:rPr>
              <a:t>Not done and still under the caps: the loop goes back to the model.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You grow one support-desk app in four steps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7</a:t>
            </a:r>
          </a:p>
        </p:txBody>
      </p:sp>
      <p:sp>
        <p:nvSpPr>
          <p:cNvPr id="5" name="Rounded Rectangle 4"/>
          <p:cNvSpPr/>
          <p:nvPr/>
        </p:nvSpPr>
        <p:spPr>
          <a:xfrm>
            <a:off x="640080" y="1645920"/>
            <a:ext cx="10908792" cy="41148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271016" y="3268979"/>
            <a:ext cx="2103120"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Desk loop with caps</a:t>
            </a:r>
          </a:p>
        </p:txBody>
      </p:sp>
      <p:cxnSp>
        <p:nvCxnSpPr>
          <p:cNvPr id="7" name="Connector 6"/>
          <p:cNvCxnSpPr/>
          <p:nvPr/>
        </p:nvCxnSpPr>
        <p:spPr>
          <a:xfrm>
            <a:off x="3419856" y="3703320"/>
            <a:ext cx="320040" cy="0"/>
          </a:xfrm>
          <a:prstGeom prst="line">
            <a:avLst/>
          </a:prstGeom>
          <a:ln w="2540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785616" y="3268979"/>
            <a:ext cx="2103120"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Retries and a checker</a:t>
            </a:r>
          </a:p>
        </p:txBody>
      </p:sp>
      <p:cxnSp>
        <p:nvCxnSpPr>
          <p:cNvPr id="9" name="Connector 8"/>
          <p:cNvCxnSpPr/>
          <p:nvPr/>
        </p:nvCxnSpPr>
        <p:spPr>
          <a:xfrm>
            <a:off x="5934456" y="3703320"/>
            <a:ext cx="320040" cy="0"/>
          </a:xfrm>
          <a:prstGeom prst="line">
            <a:avLst/>
          </a:prstGeom>
          <a:ln w="2540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300216" y="3268979"/>
            <a:ext cx="2103120"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Approvals and triggers</a:t>
            </a:r>
          </a:p>
        </p:txBody>
      </p:sp>
      <p:cxnSp>
        <p:nvCxnSpPr>
          <p:cNvPr id="11" name="Connector 10"/>
          <p:cNvCxnSpPr/>
          <p:nvPr/>
        </p:nvCxnSpPr>
        <p:spPr>
          <a:xfrm>
            <a:off x="8449056" y="3703320"/>
            <a:ext cx="320040" cy="0"/>
          </a:xfrm>
          <a:prstGeom prst="line">
            <a:avLst/>
          </a:prstGeom>
          <a:ln w="2540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814816" y="3268979"/>
            <a:ext cx="2103120" cy="868680"/>
          </a:xfrm>
          <a:prstGeom prst="roundRect">
            <a:avLst>
              <a:gd name="adj" fmla="val 12000"/>
            </a:avLst>
          </a:prstGeom>
          <a:solidFill>
            <a:srgbClr val="4F46E5"/>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1">
                <a:solidFill>
                  <a:srgbClr val="FFFFFF"/>
                </a:solidFill>
                <a:latin typeface="Calibri"/>
              </a:rPr>
              <a:t>Durable, traced fleet</a:t>
            </a:r>
          </a:p>
        </p:txBody>
      </p:sp>
      <p:sp>
        <p:nvSpPr>
          <p:cNvPr id="13" name="TextBox 12"/>
          <p:cNvSpPr txBox="1"/>
          <p:nvPr/>
        </p:nvSpPr>
        <p:spPr>
          <a:xfrm>
            <a:off x="640080" y="5852160"/>
            <a:ext cx="10881360" cy="411480"/>
          </a:xfrm>
          <a:prstGeom prst="rect">
            <a:avLst/>
          </a:prstGeom>
          <a:noFill/>
        </p:spPr>
        <p:txBody>
          <a:bodyPr wrap="square" lIns="0" rIns="0" tIns="0" bIns="0" anchor="t">
            <a:spAutoFit/>
          </a:bodyPr>
          <a:lstStyle/>
          <a:p>
            <a:pPr algn="l"/>
            <a:r>
              <a:rPr sz="1400" b="0" i="0">
                <a:solidFill>
                  <a:srgbClr val="6B7280"/>
                </a:solidFill>
                <a:latin typeface="Calibri"/>
              </a:rPr>
              <a:t>Planned as one chapter, one step: a local FastAPI app with one web page.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Four chapters, 33 lessons, about 13 hours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8</a:t>
            </a:r>
          </a:p>
        </p:txBody>
      </p:sp>
      <p:sp>
        <p:nvSpPr>
          <p:cNvPr id="5" name="Rectangle 4"/>
          <p:cNvSpPr/>
          <p:nvPr/>
        </p:nvSpPr>
        <p:spPr>
          <a:xfrm>
            <a:off x="640080" y="1508760"/>
            <a:ext cx="10908792" cy="493776"/>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08760"/>
            <a:ext cx="640080" cy="493776"/>
          </a:xfrm>
          <a:prstGeom prst="rect">
            <a:avLst/>
          </a:prstGeom>
          <a:noFill/>
        </p:spPr>
        <p:txBody>
          <a:bodyPr wrap="square" lIns="0" rIns="0" tIns="0" bIns="0" anchor="ctr">
            <a:spAutoFit/>
          </a:bodyPr>
          <a:lstStyle/>
          <a:p>
            <a:pPr algn="l"/>
            <a:r>
              <a:rPr sz="1800" b="1" i="0">
                <a:solidFill>
                  <a:srgbClr val="4F46E5"/>
                </a:solidFill>
                <a:latin typeface="Calibri"/>
              </a:rPr>
              <a:t>1</a:t>
            </a:r>
          </a:p>
        </p:txBody>
      </p:sp>
      <p:sp>
        <p:nvSpPr>
          <p:cNvPr id="7" name="TextBox 6"/>
          <p:cNvSpPr txBox="1"/>
          <p:nvPr/>
        </p:nvSpPr>
        <p:spPr>
          <a:xfrm>
            <a:off x="1554480" y="1508760"/>
            <a:ext cx="6309360" cy="493776"/>
          </a:xfrm>
          <a:prstGeom prst="rect">
            <a:avLst/>
          </a:prstGeom>
          <a:noFill/>
        </p:spPr>
        <p:txBody>
          <a:bodyPr wrap="square" lIns="0" rIns="0" tIns="0" bIns="0" anchor="ctr">
            <a:spAutoFit/>
          </a:bodyPr>
          <a:lstStyle/>
          <a:p>
            <a:pPr algn="l"/>
            <a:r>
              <a:rPr sz="1800" b="0" i="0">
                <a:solidFill>
                  <a:srgbClr val="1F2933"/>
                </a:solidFill>
                <a:latin typeface="Calibri"/>
              </a:rPr>
              <a:t>Foundations: the model call and the loop by hand</a:t>
            </a:r>
          </a:p>
        </p:txBody>
      </p:sp>
      <p:sp>
        <p:nvSpPr>
          <p:cNvPr id="8" name="Rounded Rectangle 7"/>
          <p:cNvSpPr/>
          <p:nvPr/>
        </p:nvSpPr>
        <p:spPr>
          <a:xfrm>
            <a:off x="8001000" y="1581912"/>
            <a:ext cx="1600200" cy="347472"/>
          </a:xfrm>
          <a:prstGeom prst="roundRect">
            <a:avLst>
              <a:gd name="adj" fmla="val 12000"/>
            </a:avLst>
          </a:prstGeom>
          <a:solidFill>
            <a:srgbClr val="DFDE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300" b="1">
                <a:solidFill>
                  <a:srgbClr val="1F2933"/>
                </a:solidFill>
                <a:latin typeface="Calibri"/>
              </a:rPr>
              <a:t>Basic</a:t>
            </a:r>
          </a:p>
        </p:txBody>
      </p:sp>
      <p:sp>
        <p:nvSpPr>
          <p:cNvPr id="9" name="TextBox 8"/>
          <p:cNvSpPr txBox="1"/>
          <p:nvPr/>
        </p:nvSpPr>
        <p:spPr>
          <a:xfrm>
            <a:off x="9784080" y="1508760"/>
            <a:ext cx="1691640" cy="493776"/>
          </a:xfrm>
          <a:prstGeom prst="rect">
            <a:avLst/>
          </a:prstGeom>
          <a:noFill/>
        </p:spPr>
        <p:txBody>
          <a:bodyPr wrap="square" lIns="0" rIns="0" tIns="0" bIns="0" anchor="ctr">
            <a:spAutoFit/>
          </a:bodyPr>
          <a:lstStyle/>
          <a:p>
            <a:pPr algn="r"/>
            <a:r>
              <a:rPr sz="1400" b="0" i="0">
                <a:solidFill>
                  <a:srgbClr val="6B7280"/>
                </a:solidFill>
                <a:latin typeface="Calibri"/>
              </a:rPr>
              <a:t>8 lessons · ~3.2 h</a:t>
            </a:r>
          </a:p>
        </p:txBody>
      </p:sp>
      <p:sp>
        <p:nvSpPr>
          <p:cNvPr id="10" name="Rectangle 9"/>
          <p:cNvSpPr/>
          <p:nvPr/>
        </p:nvSpPr>
        <p:spPr>
          <a:xfrm>
            <a:off x="640080" y="2075688"/>
            <a:ext cx="10908792" cy="4937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075688"/>
            <a:ext cx="640080" cy="493776"/>
          </a:xfrm>
          <a:prstGeom prst="rect">
            <a:avLst/>
          </a:prstGeom>
          <a:noFill/>
        </p:spPr>
        <p:txBody>
          <a:bodyPr wrap="square" lIns="0" rIns="0" tIns="0" bIns="0" anchor="ctr">
            <a:spAutoFit/>
          </a:bodyPr>
          <a:lstStyle/>
          <a:p>
            <a:pPr algn="l"/>
            <a:r>
              <a:rPr sz="1800" b="1" i="0">
                <a:solidFill>
                  <a:srgbClr val="4F46E5"/>
                </a:solidFill>
                <a:latin typeface="Calibri"/>
              </a:rPr>
              <a:t>2</a:t>
            </a:r>
          </a:p>
        </p:txBody>
      </p:sp>
      <p:sp>
        <p:nvSpPr>
          <p:cNvPr id="12" name="TextBox 11"/>
          <p:cNvSpPr txBox="1"/>
          <p:nvPr/>
        </p:nvSpPr>
        <p:spPr>
          <a:xfrm>
            <a:off x="1554480" y="2075688"/>
            <a:ext cx="6309360" cy="493776"/>
          </a:xfrm>
          <a:prstGeom prst="rect">
            <a:avLst/>
          </a:prstGeom>
          <a:noFill/>
        </p:spPr>
        <p:txBody>
          <a:bodyPr wrap="square" lIns="0" rIns="0" tIns="0" bIns="0" anchor="ctr">
            <a:spAutoFit/>
          </a:bodyPr>
          <a:lstStyle/>
          <a:p>
            <a:pPr algn="l"/>
            <a:r>
              <a:rPr sz="1800" b="0" i="0">
                <a:solidFill>
                  <a:srgbClr val="1F2933"/>
                </a:solidFill>
                <a:latin typeface="Calibri"/>
              </a:rPr>
              <a:t>Control: outer loops, state, retries and review</a:t>
            </a:r>
          </a:p>
        </p:txBody>
      </p:sp>
      <p:sp>
        <p:nvSpPr>
          <p:cNvPr id="13" name="Rounded Rectangle 12"/>
          <p:cNvSpPr/>
          <p:nvPr/>
        </p:nvSpPr>
        <p:spPr>
          <a:xfrm>
            <a:off x="8001000" y="2148840"/>
            <a:ext cx="1600200" cy="347472"/>
          </a:xfrm>
          <a:prstGeom prst="roundRect">
            <a:avLst>
              <a:gd name="adj" fmla="val 12000"/>
            </a:avLst>
          </a:prstGeom>
          <a:solidFill>
            <a:srgbClr val="B9B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300" b="1">
                <a:solidFill>
                  <a:srgbClr val="1F2933"/>
                </a:solidFill>
                <a:latin typeface="Calibri"/>
              </a:rPr>
              <a:t>Intermediate</a:t>
            </a:r>
          </a:p>
        </p:txBody>
      </p:sp>
      <p:sp>
        <p:nvSpPr>
          <p:cNvPr id="14" name="TextBox 13"/>
          <p:cNvSpPr txBox="1"/>
          <p:nvPr/>
        </p:nvSpPr>
        <p:spPr>
          <a:xfrm>
            <a:off x="9784080" y="2075688"/>
            <a:ext cx="1691640" cy="493776"/>
          </a:xfrm>
          <a:prstGeom prst="rect">
            <a:avLst/>
          </a:prstGeom>
          <a:noFill/>
        </p:spPr>
        <p:txBody>
          <a:bodyPr wrap="square" lIns="0" rIns="0" tIns="0" bIns="0" anchor="ctr">
            <a:spAutoFit/>
          </a:bodyPr>
          <a:lstStyle/>
          <a:p>
            <a:pPr algn="r"/>
            <a:r>
              <a:rPr sz="1400" b="0" i="0">
                <a:solidFill>
                  <a:srgbClr val="6B7280"/>
                </a:solidFill>
                <a:latin typeface="Calibri"/>
              </a:rPr>
              <a:t>10 lessons · ~4.1 h</a:t>
            </a:r>
          </a:p>
        </p:txBody>
      </p:sp>
      <p:sp>
        <p:nvSpPr>
          <p:cNvPr id="15" name="Rectangle 14"/>
          <p:cNvSpPr/>
          <p:nvPr/>
        </p:nvSpPr>
        <p:spPr>
          <a:xfrm>
            <a:off x="640080" y="2642615"/>
            <a:ext cx="10908792" cy="493776"/>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2642615"/>
            <a:ext cx="640080" cy="493776"/>
          </a:xfrm>
          <a:prstGeom prst="rect">
            <a:avLst/>
          </a:prstGeom>
          <a:noFill/>
        </p:spPr>
        <p:txBody>
          <a:bodyPr wrap="square" lIns="0" rIns="0" tIns="0" bIns="0" anchor="ctr">
            <a:spAutoFit/>
          </a:bodyPr>
          <a:lstStyle/>
          <a:p>
            <a:pPr algn="l"/>
            <a:r>
              <a:rPr sz="1800" b="1" i="0">
                <a:solidFill>
                  <a:srgbClr val="4F46E5"/>
                </a:solidFill>
                <a:latin typeface="Calibri"/>
              </a:rPr>
              <a:t>3</a:t>
            </a:r>
          </a:p>
        </p:txBody>
      </p:sp>
      <p:sp>
        <p:nvSpPr>
          <p:cNvPr id="17" name="TextBox 16"/>
          <p:cNvSpPr txBox="1"/>
          <p:nvPr/>
        </p:nvSpPr>
        <p:spPr>
          <a:xfrm>
            <a:off x="1554480" y="2642615"/>
            <a:ext cx="6309360" cy="493776"/>
          </a:xfrm>
          <a:prstGeom prst="rect">
            <a:avLst/>
          </a:prstGeom>
          <a:noFill/>
        </p:spPr>
        <p:txBody>
          <a:bodyPr wrap="square" lIns="0" rIns="0" tIns="0" bIns="0" anchor="ctr">
            <a:spAutoFit/>
          </a:bodyPr>
          <a:lstStyle/>
          <a:p>
            <a:pPr algn="l"/>
            <a:r>
              <a:rPr sz="1800" b="0" i="0">
                <a:solidFill>
                  <a:srgbClr val="1F2933"/>
                </a:solidFill>
                <a:latin typeface="Calibri"/>
              </a:rPr>
              <a:t>Production: triggers, approvals and safety for unattended loops</a:t>
            </a:r>
          </a:p>
        </p:txBody>
      </p:sp>
      <p:sp>
        <p:nvSpPr>
          <p:cNvPr id="18" name="Rounded Rectangle 17"/>
          <p:cNvSpPr/>
          <p:nvPr/>
        </p:nvSpPr>
        <p:spPr>
          <a:xfrm>
            <a:off x="8001000" y="2715768"/>
            <a:ext cx="1600200" cy="347472"/>
          </a:xfrm>
          <a:prstGeom prst="roundRect">
            <a:avLst>
              <a:gd name="adj" fmla="val 12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300" b="1">
                <a:solidFill>
                  <a:srgbClr val="FFFFFF"/>
                </a:solidFill>
                <a:latin typeface="Calibri"/>
              </a:rPr>
              <a:t>Advanced</a:t>
            </a:r>
          </a:p>
        </p:txBody>
      </p:sp>
      <p:sp>
        <p:nvSpPr>
          <p:cNvPr id="19" name="TextBox 18"/>
          <p:cNvSpPr txBox="1"/>
          <p:nvPr/>
        </p:nvSpPr>
        <p:spPr>
          <a:xfrm>
            <a:off x="9784080" y="2642615"/>
            <a:ext cx="1691640" cy="493776"/>
          </a:xfrm>
          <a:prstGeom prst="rect">
            <a:avLst/>
          </a:prstGeom>
          <a:noFill/>
        </p:spPr>
        <p:txBody>
          <a:bodyPr wrap="square" lIns="0" rIns="0" tIns="0" bIns="0" anchor="ctr">
            <a:spAutoFit/>
          </a:bodyPr>
          <a:lstStyle/>
          <a:p>
            <a:pPr algn="r"/>
            <a:r>
              <a:rPr sz="1400" b="0" i="0">
                <a:solidFill>
                  <a:srgbClr val="6B7280"/>
                </a:solidFill>
                <a:latin typeface="Calibri"/>
              </a:rPr>
              <a:t>6 lessons · ~2.4 h</a:t>
            </a:r>
          </a:p>
        </p:txBody>
      </p:sp>
      <p:sp>
        <p:nvSpPr>
          <p:cNvPr id="20" name="Rectangle 19"/>
          <p:cNvSpPr/>
          <p:nvPr/>
        </p:nvSpPr>
        <p:spPr>
          <a:xfrm>
            <a:off x="640080" y="3209544"/>
            <a:ext cx="10908792" cy="4937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3209544"/>
            <a:ext cx="640080" cy="493776"/>
          </a:xfrm>
          <a:prstGeom prst="rect">
            <a:avLst/>
          </a:prstGeom>
          <a:noFill/>
        </p:spPr>
        <p:txBody>
          <a:bodyPr wrap="square" lIns="0" rIns="0" tIns="0" bIns="0" anchor="ctr">
            <a:spAutoFit/>
          </a:bodyPr>
          <a:lstStyle/>
          <a:p>
            <a:pPr algn="l"/>
            <a:r>
              <a:rPr sz="1800" b="1" i="0">
                <a:solidFill>
                  <a:srgbClr val="4F46E5"/>
                </a:solidFill>
                <a:latin typeface="Calibri"/>
              </a:rPr>
              <a:t>4</a:t>
            </a:r>
          </a:p>
        </p:txBody>
      </p:sp>
      <p:sp>
        <p:nvSpPr>
          <p:cNvPr id="22" name="TextBox 21"/>
          <p:cNvSpPr txBox="1"/>
          <p:nvPr/>
        </p:nvSpPr>
        <p:spPr>
          <a:xfrm>
            <a:off x="1554480" y="3209544"/>
            <a:ext cx="6309360" cy="493776"/>
          </a:xfrm>
          <a:prstGeom prst="rect">
            <a:avLst/>
          </a:prstGeom>
          <a:noFill/>
        </p:spPr>
        <p:txBody>
          <a:bodyPr wrap="square" lIns="0" rIns="0" tIns="0" bIns="0" anchor="ctr">
            <a:spAutoFit/>
          </a:bodyPr>
          <a:lstStyle/>
          <a:p>
            <a:pPr algn="l"/>
            <a:r>
              <a:rPr sz="1800" b="0" i="0">
                <a:solidFill>
                  <a:srgbClr val="1F2933"/>
                </a:solidFill>
                <a:latin typeface="Calibri"/>
              </a:rPr>
              <a:t>Enterprise: durable runs, cost, operation and governance</a:t>
            </a:r>
          </a:p>
        </p:txBody>
      </p:sp>
      <p:sp>
        <p:nvSpPr>
          <p:cNvPr id="23" name="Rounded Rectangle 22"/>
          <p:cNvSpPr/>
          <p:nvPr/>
        </p:nvSpPr>
        <p:spPr>
          <a:xfrm>
            <a:off x="8001000" y="3282696"/>
            <a:ext cx="1600200" cy="347472"/>
          </a:xfrm>
          <a:prstGeom prst="roundRect">
            <a:avLst>
              <a:gd name="adj" fmla="val 12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300" b="1">
                <a:solidFill>
                  <a:srgbClr val="FFFFFF"/>
                </a:solidFill>
                <a:latin typeface="Calibri"/>
              </a:rPr>
              <a:t>Advanced</a:t>
            </a:r>
          </a:p>
        </p:txBody>
      </p:sp>
      <p:sp>
        <p:nvSpPr>
          <p:cNvPr id="24" name="TextBox 23"/>
          <p:cNvSpPr txBox="1"/>
          <p:nvPr/>
        </p:nvSpPr>
        <p:spPr>
          <a:xfrm>
            <a:off x="9784080" y="3209544"/>
            <a:ext cx="1691640" cy="493776"/>
          </a:xfrm>
          <a:prstGeom prst="rect">
            <a:avLst/>
          </a:prstGeom>
          <a:noFill/>
        </p:spPr>
        <p:txBody>
          <a:bodyPr wrap="square" lIns="0" rIns="0" tIns="0" bIns="0" anchor="ctr">
            <a:spAutoFit/>
          </a:bodyPr>
          <a:lstStyle/>
          <a:p>
            <a:pPr algn="r"/>
            <a:r>
              <a:rPr sz="1400" b="0" i="0">
                <a:solidFill>
                  <a:srgbClr val="6B7280"/>
                </a:solidFill>
                <a:latin typeface="Calibri"/>
              </a:rPr>
              <a:t>9 lessons · ~3.7 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Every lesson runs the same way</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9</a:t>
            </a:r>
          </a:p>
        </p:txBody>
      </p:sp>
      <p:sp>
        <p:nvSpPr>
          <p:cNvPr id="5" name="Rounded Rectangle 4"/>
          <p:cNvSpPr/>
          <p:nvPr/>
        </p:nvSpPr>
        <p:spPr>
          <a:xfrm>
            <a:off x="594359" y="2514600"/>
            <a:ext cx="2510028"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4400"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1</a:t>
            </a:r>
          </a:p>
        </p:txBody>
      </p:sp>
      <p:cxnSp>
        <p:nvCxnSpPr>
          <p:cNvPr id="8" name="Connector 7"/>
          <p:cNvCxnSpPr/>
          <p:nvPr/>
        </p:nvCxnSpPr>
        <p:spPr>
          <a:xfrm>
            <a:off x="1828800" y="2240280"/>
            <a:ext cx="1824228" cy="0"/>
          </a:xfrm>
          <a:prstGeom prst="line">
            <a:avLst/>
          </a:prstGeom>
          <a:ln w="25400">
            <a:solidFill>
              <a:srgbClr val="4F46E5"/>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914400" y="2926080"/>
            <a:ext cx="1869948" cy="822960"/>
          </a:xfrm>
          <a:prstGeom prst="rect">
            <a:avLst/>
          </a:prstGeom>
          <a:noFill/>
        </p:spPr>
        <p:txBody>
          <a:bodyPr wrap="square" lIns="0" rIns="0" tIns="0" bIns="0" anchor="t">
            <a:spAutoFit/>
          </a:bodyPr>
          <a:lstStyle/>
          <a:p>
            <a:pPr algn="l"/>
            <a:r>
              <a:rPr sz="2100" b="1" i="0">
                <a:solidFill>
                  <a:srgbClr val="1F2933"/>
                </a:solidFill>
                <a:latin typeface="Calibri"/>
              </a:rPr>
              <a:t>Read the goal</a:t>
            </a:r>
          </a:p>
        </p:txBody>
      </p:sp>
      <p:sp>
        <p:nvSpPr>
          <p:cNvPr id="10" name="TextBox 9"/>
          <p:cNvSpPr txBox="1"/>
          <p:nvPr/>
        </p:nvSpPr>
        <p:spPr>
          <a:xfrm>
            <a:off x="914400" y="3840480"/>
            <a:ext cx="1869948" cy="1280160"/>
          </a:xfrm>
          <a:prstGeom prst="rect">
            <a:avLst/>
          </a:prstGeom>
          <a:noFill/>
        </p:spPr>
        <p:txBody>
          <a:bodyPr wrap="square" lIns="0" rIns="0" tIns="0" bIns="0" anchor="t">
            <a:spAutoFit/>
          </a:bodyPr>
          <a:lstStyle/>
          <a:p>
            <a:pPr algn="l"/>
            <a:r>
              <a:rPr sz="1700" b="0" i="0">
                <a:solidFill>
                  <a:srgbClr val="1F2933"/>
                </a:solidFill>
                <a:latin typeface="Calibri"/>
              </a:rPr>
              <a:t>What you will do, and why it matters.</a:t>
            </a:r>
          </a:p>
        </p:txBody>
      </p:sp>
      <p:sp>
        <p:nvSpPr>
          <p:cNvPr id="11" name="Rounded Rectangle 10"/>
          <p:cNvSpPr/>
          <p:nvPr/>
        </p:nvSpPr>
        <p:spPr>
          <a:xfrm>
            <a:off x="3424428" y="2514600"/>
            <a:ext cx="2510028"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744468"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44468"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2</a:t>
            </a:r>
          </a:p>
        </p:txBody>
      </p:sp>
      <p:cxnSp>
        <p:nvCxnSpPr>
          <p:cNvPr id="14" name="Connector 13"/>
          <p:cNvCxnSpPr/>
          <p:nvPr/>
        </p:nvCxnSpPr>
        <p:spPr>
          <a:xfrm>
            <a:off x="4658868" y="2240280"/>
            <a:ext cx="1824228" cy="0"/>
          </a:xfrm>
          <a:prstGeom prst="line">
            <a:avLst/>
          </a:prstGeom>
          <a:ln w="25400">
            <a:solidFill>
              <a:srgbClr val="4F46E5"/>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744468" y="2926080"/>
            <a:ext cx="1869948" cy="822960"/>
          </a:xfrm>
          <a:prstGeom prst="rect">
            <a:avLst/>
          </a:prstGeom>
          <a:noFill/>
        </p:spPr>
        <p:txBody>
          <a:bodyPr wrap="square" lIns="0" rIns="0" tIns="0" bIns="0" anchor="t">
            <a:spAutoFit/>
          </a:bodyPr>
          <a:lstStyle/>
          <a:p>
            <a:pPr algn="l"/>
            <a:r>
              <a:rPr sz="2100" b="1" i="0">
                <a:solidFill>
                  <a:srgbClr val="1F2933"/>
                </a:solidFill>
                <a:latin typeface="Calibri"/>
              </a:rPr>
              <a:t>Run the cells</a:t>
            </a:r>
          </a:p>
        </p:txBody>
      </p:sp>
      <p:sp>
        <p:nvSpPr>
          <p:cNvPr id="16" name="TextBox 15"/>
          <p:cNvSpPr txBox="1"/>
          <p:nvPr/>
        </p:nvSpPr>
        <p:spPr>
          <a:xfrm>
            <a:off x="3744468" y="3840480"/>
            <a:ext cx="1869948" cy="1280160"/>
          </a:xfrm>
          <a:prstGeom prst="rect">
            <a:avLst/>
          </a:prstGeom>
          <a:noFill/>
        </p:spPr>
        <p:txBody>
          <a:bodyPr wrap="square" lIns="0" rIns="0" tIns="0" bIns="0" anchor="t">
            <a:spAutoFit/>
          </a:bodyPr>
          <a:lstStyle/>
          <a:p>
            <a:pPr algn="l"/>
            <a:r>
              <a:rPr sz="1700" b="0" i="0">
                <a:solidFill>
                  <a:srgbClr val="1F2933"/>
                </a:solidFill>
                <a:latin typeface="Calibri"/>
              </a:rPr>
              <a:t>Recorded model calls replay; no key needed.</a:t>
            </a:r>
          </a:p>
        </p:txBody>
      </p:sp>
      <p:sp>
        <p:nvSpPr>
          <p:cNvPr id="17" name="Rounded Rectangle 16"/>
          <p:cNvSpPr/>
          <p:nvPr/>
        </p:nvSpPr>
        <p:spPr>
          <a:xfrm>
            <a:off x="6254496" y="2514600"/>
            <a:ext cx="2510028"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74536"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74536"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3</a:t>
            </a:r>
          </a:p>
        </p:txBody>
      </p:sp>
      <p:cxnSp>
        <p:nvCxnSpPr>
          <p:cNvPr id="20" name="Connector 19"/>
          <p:cNvCxnSpPr/>
          <p:nvPr/>
        </p:nvCxnSpPr>
        <p:spPr>
          <a:xfrm>
            <a:off x="7488936" y="2240280"/>
            <a:ext cx="1824227" cy="0"/>
          </a:xfrm>
          <a:prstGeom prst="line">
            <a:avLst/>
          </a:prstGeom>
          <a:ln w="25400">
            <a:solidFill>
              <a:srgbClr val="4F46E5"/>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574536" y="2926080"/>
            <a:ext cx="1869948" cy="822960"/>
          </a:xfrm>
          <a:prstGeom prst="rect">
            <a:avLst/>
          </a:prstGeom>
          <a:noFill/>
        </p:spPr>
        <p:txBody>
          <a:bodyPr wrap="square" lIns="0" rIns="0" tIns="0" bIns="0" anchor="t">
            <a:spAutoFit/>
          </a:bodyPr>
          <a:lstStyle/>
          <a:p>
            <a:pPr algn="l"/>
            <a:r>
              <a:rPr sz="2100" b="1" i="0">
                <a:solidFill>
                  <a:srgbClr val="1F2933"/>
                </a:solidFill>
                <a:latin typeface="Calibri"/>
              </a:rPr>
              <a:t>Try it, then check</a:t>
            </a:r>
          </a:p>
        </p:txBody>
      </p:sp>
      <p:sp>
        <p:nvSpPr>
          <p:cNvPr id="22" name="TextBox 21"/>
          <p:cNvSpPr txBox="1"/>
          <p:nvPr/>
        </p:nvSpPr>
        <p:spPr>
          <a:xfrm>
            <a:off x="6574536" y="3840480"/>
            <a:ext cx="1869948" cy="1280160"/>
          </a:xfrm>
          <a:prstGeom prst="rect">
            <a:avLst/>
          </a:prstGeom>
          <a:noFill/>
        </p:spPr>
        <p:txBody>
          <a:bodyPr wrap="square" lIns="0" rIns="0" tIns="0" bIns="0" anchor="t">
            <a:spAutoFit/>
          </a:bodyPr>
          <a:lstStyle/>
          <a:p>
            <a:pPr algn="l"/>
            <a:r>
              <a:rPr sz="1700" b="0" i="0">
                <a:solidFill>
                  <a:srgbClr val="1F2933"/>
                </a:solidFill>
                <a:latin typeface="Calibri"/>
              </a:rPr>
              <a:t>Answers sit in a hidden cell.</a:t>
            </a:r>
          </a:p>
        </p:txBody>
      </p:sp>
      <p:sp>
        <p:nvSpPr>
          <p:cNvPr id="23" name="Rounded Rectangle 22"/>
          <p:cNvSpPr/>
          <p:nvPr/>
        </p:nvSpPr>
        <p:spPr>
          <a:xfrm>
            <a:off x="9084563" y="2514600"/>
            <a:ext cx="2510028"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404604"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404604"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4</a:t>
            </a:r>
          </a:p>
        </p:txBody>
      </p:sp>
      <p:sp>
        <p:nvSpPr>
          <p:cNvPr id="26" name="TextBox 25"/>
          <p:cNvSpPr txBox="1"/>
          <p:nvPr/>
        </p:nvSpPr>
        <p:spPr>
          <a:xfrm>
            <a:off x="9404604" y="2926080"/>
            <a:ext cx="1869948" cy="822960"/>
          </a:xfrm>
          <a:prstGeom prst="rect">
            <a:avLst/>
          </a:prstGeom>
          <a:noFill/>
        </p:spPr>
        <p:txBody>
          <a:bodyPr wrap="square" lIns="0" rIns="0" tIns="0" bIns="0" anchor="t">
            <a:spAutoFit/>
          </a:bodyPr>
          <a:lstStyle/>
          <a:p>
            <a:pPr algn="l"/>
            <a:r>
              <a:rPr sz="2100" b="1" i="0">
                <a:solidFill>
                  <a:srgbClr val="1F2933"/>
                </a:solidFill>
                <a:latin typeface="Calibri"/>
              </a:rPr>
              <a:t>Finish the interview line</a:t>
            </a:r>
          </a:p>
        </p:txBody>
      </p:sp>
      <p:sp>
        <p:nvSpPr>
          <p:cNvPr id="27" name="TextBox 26"/>
          <p:cNvSpPr txBox="1"/>
          <p:nvPr/>
        </p:nvSpPr>
        <p:spPr>
          <a:xfrm>
            <a:off x="9404604" y="3840480"/>
            <a:ext cx="1869948" cy="1280160"/>
          </a:xfrm>
          <a:prstGeom prst="rect">
            <a:avLst/>
          </a:prstGeom>
          <a:noFill/>
        </p:spPr>
        <p:txBody>
          <a:bodyPr wrap="square" lIns="0" rIns="0" tIns="0" bIns="0" anchor="t">
            <a:spAutoFit/>
          </a:bodyPr>
          <a:lstStyle/>
          <a:p>
            <a:pPr algn="l"/>
            <a:r>
              <a:rPr sz="1700" b="0" i="0">
                <a:solidFill>
                  <a:srgbClr val="1F2933"/>
                </a:solidFill>
                <a:latin typeface="Calibri"/>
              </a:rPr>
              <a:t>One question and a strong answer.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Three levels: basic, intermediate, advanced</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10</a:t>
            </a:r>
          </a:p>
        </p:txBody>
      </p:sp>
      <p:sp>
        <p:nvSpPr>
          <p:cNvPr id="5" name="Rounded Rectangle 4"/>
          <p:cNvSpPr/>
          <p:nvPr/>
        </p:nvSpPr>
        <p:spPr>
          <a:xfrm>
            <a:off x="640080" y="1828800"/>
            <a:ext cx="3422904" cy="338328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48840"/>
            <a:ext cx="2691384" cy="548640"/>
          </a:xfrm>
          <a:prstGeom prst="rect">
            <a:avLst/>
          </a:prstGeom>
          <a:noFill/>
        </p:spPr>
        <p:txBody>
          <a:bodyPr wrap="square" lIns="0" rIns="0" tIns="0" bIns="0" anchor="t">
            <a:spAutoFit/>
          </a:bodyPr>
          <a:lstStyle/>
          <a:p>
            <a:pPr algn="l"/>
            <a:r>
              <a:rPr sz="2400" b="1" i="0">
                <a:solidFill>
                  <a:srgbClr val="1F2933"/>
                </a:solidFill>
                <a:latin typeface="Calibri"/>
              </a:rPr>
              <a:t>Basic, about 3 hours</a:t>
            </a:r>
          </a:p>
        </p:txBody>
      </p:sp>
      <p:sp>
        <p:nvSpPr>
          <p:cNvPr id="7" name="TextBox 6"/>
          <p:cNvSpPr txBox="1"/>
          <p:nvPr/>
        </p:nvSpPr>
        <p:spPr>
          <a:xfrm>
            <a:off x="1005840" y="2926080"/>
            <a:ext cx="2691384" cy="2194560"/>
          </a:xfrm>
          <a:prstGeom prst="rect">
            <a:avLst/>
          </a:prstGeom>
          <a:noFill/>
        </p:spPr>
        <p:txBody>
          <a:bodyPr wrap="square" lIns="0" rIns="0" tIns="0" bIns="0">
            <a:spAutoFit/>
          </a:bodyPr>
          <a:lstStyle/>
          <a:p>
            <a:pPr>
              <a:spcAft>
                <a:spcPts val="1000"/>
              </a:spcAft>
            </a:pPr>
            <a:r>
              <a:rPr sz="1200">
                <a:solidFill>
                  <a:srgbClr val="4F46E5"/>
                </a:solidFill>
                <a:latin typeface="Calibri"/>
              </a:rPr>
              <a:t>●  </a:t>
            </a:r>
            <a:r>
              <a:rPr sz="1800">
                <a:solidFill>
                  <a:srgbClr val="1F2933"/>
                </a:solidFill>
                <a:latin typeface="Calibri"/>
              </a:rPr>
              <a:t>Chapter 1: 8 lessons</a:t>
            </a:r>
          </a:p>
          <a:p>
            <a:pPr>
              <a:spcAft>
                <a:spcPts val="1000"/>
              </a:spcAft>
            </a:pPr>
            <a:r>
              <a:rPr sz="1200">
                <a:solidFill>
                  <a:srgbClr val="4F46E5"/>
                </a:solidFill>
                <a:latin typeface="Calibri"/>
              </a:rPr>
              <a:t>●  </a:t>
            </a:r>
            <a:r>
              <a:rPr sz="1800">
                <a:solidFill>
                  <a:srgbClr val="1F2933"/>
                </a:solidFill>
                <a:latin typeface="Calibri"/>
              </a:rPr>
              <a:t>Model call, tools, caps, verifier</a:t>
            </a:r>
          </a:p>
        </p:txBody>
      </p:sp>
      <p:sp>
        <p:nvSpPr>
          <p:cNvPr id="8" name="Rounded Rectangle 7"/>
          <p:cNvSpPr/>
          <p:nvPr/>
        </p:nvSpPr>
        <p:spPr>
          <a:xfrm>
            <a:off x="4383024" y="1828800"/>
            <a:ext cx="3422904" cy="338328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48784" y="2148840"/>
            <a:ext cx="2691384" cy="548640"/>
          </a:xfrm>
          <a:prstGeom prst="rect">
            <a:avLst/>
          </a:prstGeom>
          <a:noFill/>
        </p:spPr>
        <p:txBody>
          <a:bodyPr wrap="square" lIns="0" rIns="0" tIns="0" bIns="0" anchor="t">
            <a:spAutoFit/>
          </a:bodyPr>
          <a:lstStyle/>
          <a:p>
            <a:pPr algn="l"/>
            <a:r>
              <a:rPr sz="2400" b="1" i="0">
                <a:solidFill>
                  <a:srgbClr val="1F2933"/>
                </a:solidFill>
                <a:latin typeface="Calibri"/>
              </a:rPr>
              <a:t>Intermediate, about 4 hours</a:t>
            </a:r>
          </a:p>
        </p:txBody>
      </p:sp>
      <p:sp>
        <p:nvSpPr>
          <p:cNvPr id="10" name="TextBox 9"/>
          <p:cNvSpPr txBox="1"/>
          <p:nvPr/>
        </p:nvSpPr>
        <p:spPr>
          <a:xfrm>
            <a:off x="4748784" y="2926080"/>
            <a:ext cx="2691384" cy="2194560"/>
          </a:xfrm>
          <a:prstGeom prst="rect">
            <a:avLst/>
          </a:prstGeom>
          <a:noFill/>
        </p:spPr>
        <p:txBody>
          <a:bodyPr wrap="square" lIns="0" rIns="0" tIns="0" bIns="0">
            <a:spAutoFit/>
          </a:bodyPr>
          <a:lstStyle/>
          <a:p>
            <a:pPr>
              <a:spcAft>
                <a:spcPts val="1000"/>
              </a:spcAft>
            </a:pPr>
            <a:r>
              <a:rPr sz="1200">
                <a:solidFill>
                  <a:srgbClr val="4F46E5"/>
                </a:solidFill>
                <a:latin typeface="Calibri"/>
              </a:rPr>
              <a:t>●  </a:t>
            </a:r>
            <a:r>
              <a:rPr sz="1800">
                <a:solidFill>
                  <a:srgbClr val="1F2933"/>
                </a:solidFill>
                <a:latin typeface="Calibri"/>
              </a:rPr>
              <a:t>Chapter 2: 10 lessons</a:t>
            </a:r>
          </a:p>
          <a:p>
            <a:pPr>
              <a:spcAft>
                <a:spcPts val="1000"/>
              </a:spcAft>
            </a:pPr>
            <a:r>
              <a:rPr sz="1200">
                <a:solidFill>
                  <a:srgbClr val="4F46E5"/>
                </a:solidFill>
                <a:latin typeface="Calibri"/>
              </a:rPr>
              <a:t>●  </a:t>
            </a:r>
            <a:r>
              <a:rPr sz="1800">
                <a:solidFill>
                  <a:srgbClr val="1F2933"/>
                </a:solidFill>
                <a:latin typeface="Calibri"/>
              </a:rPr>
              <a:t>Outer loops, retries, a checker</a:t>
            </a:r>
          </a:p>
        </p:txBody>
      </p:sp>
      <p:sp>
        <p:nvSpPr>
          <p:cNvPr id="11" name="Rounded Rectangle 10"/>
          <p:cNvSpPr/>
          <p:nvPr/>
        </p:nvSpPr>
        <p:spPr>
          <a:xfrm>
            <a:off x="8125968" y="1828800"/>
            <a:ext cx="3422904" cy="338328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91728" y="2148840"/>
            <a:ext cx="2691384" cy="548640"/>
          </a:xfrm>
          <a:prstGeom prst="rect">
            <a:avLst/>
          </a:prstGeom>
          <a:noFill/>
        </p:spPr>
        <p:txBody>
          <a:bodyPr wrap="square" lIns="0" rIns="0" tIns="0" bIns="0" anchor="t">
            <a:spAutoFit/>
          </a:bodyPr>
          <a:lstStyle/>
          <a:p>
            <a:pPr algn="l"/>
            <a:r>
              <a:rPr sz="2400" b="1" i="0">
                <a:solidFill>
                  <a:srgbClr val="1F2933"/>
                </a:solidFill>
                <a:latin typeface="Calibri"/>
              </a:rPr>
              <a:t>Advanced, about 6 hours</a:t>
            </a:r>
          </a:p>
        </p:txBody>
      </p:sp>
      <p:sp>
        <p:nvSpPr>
          <p:cNvPr id="13" name="TextBox 12"/>
          <p:cNvSpPr txBox="1"/>
          <p:nvPr/>
        </p:nvSpPr>
        <p:spPr>
          <a:xfrm>
            <a:off x="8491728" y="2926080"/>
            <a:ext cx="2691384" cy="2194560"/>
          </a:xfrm>
          <a:prstGeom prst="rect">
            <a:avLst/>
          </a:prstGeom>
          <a:noFill/>
        </p:spPr>
        <p:txBody>
          <a:bodyPr wrap="square" lIns="0" rIns="0" tIns="0" bIns="0">
            <a:spAutoFit/>
          </a:bodyPr>
          <a:lstStyle/>
          <a:p>
            <a:pPr>
              <a:spcAft>
                <a:spcPts val="1000"/>
              </a:spcAft>
            </a:pPr>
            <a:r>
              <a:rPr sz="1200">
                <a:solidFill>
                  <a:srgbClr val="4F46E5"/>
                </a:solidFill>
                <a:latin typeface="Calibri"/>
              </a:rPr>
              <a:t>●  </a:t>
            </a:r>
            <a:r>
              <a:rPr sz="1800">
                <a:solidFill>
                  <a:srgbClr val="1F2933"/>
                </a:solidFill>
                <a:latin typeface="Calibri"/>
              </a:rPr>
              <a:t>Chapters 3 and 4: 15 lessons</a:t>
            </a:r>
          </a:p>
          <a:p>
            <a:pPr>
              <a:spcAft>
                <a:spcPts val="1000"/>
              </a:spcAft>
            </a:pPr>
            <a:r>
              <a:rPr sz="1200">
                <a:solidFill>
                  <a:srgbClr val="4F46E5"/>
                </a:solidFill>
                <a:latin typeface="Calibri"/>
              </a:rPr>
              <a:t>●  </a:t>
            </a:r>
            <a:r>
              <a:rPr sz="1800">
                <a:solidFill>
                  <a:srgbClr val="1F2933"/>
                </a:solidFill>
                <a:latin typeface="Calibri"/>
              </a:rPr>
              <a:t>Approvals, durable runs, traces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Before you start: four things to set up</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11</a:t>
            </a:r>
          </a:p>
        </p:txBody>
      </p:sp>
      <p:sp>
        <p:nvSpPr>
          <p:cNvPr id="5" name="Rounded Rectangle 4"/>
          <p:cNvSpPr/>
          <p:nvPr/>
        </p:nvSpPr>
        <p:spPr>
          <a:xfrm>
            <a:off x="640080" y="1828800"/>
            <a:ext cx="2487168"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05840" y="2194560"/>
            <a:ext cx="777240" cy="77724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Gear 6 6"/>
          <p:cNvSpPr/>
          <p:nvPr/>
        </p:nvSpPr>
        <p:spPr>
          <a:xfrm>
            <a:off x="1200150" y="2388870"/>
            <a:ext cx="388620" cy="388620"/>
          </a:xfrm>
          <a:prstGeom prst="gear6">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200400"/>
            <a:ext cx="1755647" cy="731520"/>
          </a:xfrm>
          <a:prstGeom prst="rect">
            <a:avLst/>
          </a:prstGeom>
          <a:noFill/>
        </p:spPr>
        <p:txBody>
          <a:bodyPr wrap="square" lIns="0" rIns="0" tIns="0" bIns="0" anchor="t">
            <a:spAutoFit/>
          </a:bodyPr>
          <a:lstStyle/>
          <a:p>
            <a:pPr algn="l"/>
            <a:r>
              <a:rPr sz="2200" b="1" i="0">
                <a:solidFill>
                  <a:srgbClr val="1F2933"/>
                </a:solidFill>
                <a:latin typeface="Calibri"/>
              </a:rPr>
              <a:t>Python 3.12</a:t>
            </a:r>
          </a:p>
        </p:txBody>
      </p:sp>
      <p:sp>
        <p:nvSpPr>
          <p:cNvPr id="9" name="TextBox 8"/>
          <p:cNvSpPr txBox="1"/>
          <p:nvPr/>
        </p:nvSpPr>
        <p:spPr>
          <a:xfrm>
            <a:off x="1005840" y="3931920"/>
            <a:ext cx="1755647" cy="1371600"/>
          </a:xfrm>
          <a:prstGeom prst="rect">
            <a:avLst/>
          </a:prstGeom>
          <a:noFill/>
        </p:spPr>
        <p:txBody>
          <a:bodyPr wrap="square" lIns="0" rIns="0" tIns="0" bIns="0" anchor="t">
            <a:spAutoFit/>
          </a:bodyPr>
          <a:lstStyle/>
          <a:p>
            <a:pPr algn="l"/>
            <a:r>
              <a:rPr sz="1700" b="0" i="0">
                <a:solidFill>
                  <a:srgbClr val="1F2933"/>
                </a:solidFill>
                <a:latin typeface="Calibri"/>
              </a:rPr>
              <a:t>Runs every lesson and the app.</a:t>
            </a:r>
          </a:p>
        </p:txBody>
      </p:sp>
      <p:sp>
        <p:nvSpPr>
          <p:cNvPr id="10" name="Rounded Rectangle 9"/>
          <p:cNvSpPr/>
          <p:nvPr/>
        </p:nvSpPr>
        <p:spPr>
          <a:xfrm>
            <a:off x="3447287" y="1828800"/>
            <a:ext cx="2487168"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813048" y="2194560"/>
            <a:ext cx="777240" cy="77724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loud 11"/>
          <p:cNvSpPr/>
          <p:nvPr/>
        </p:nvSpPr>
        <p:spPr>
          <a:xfrm>
            <a:off x="4007358" y="2388870"/>
            <a:ext cx="388620" cy="388620"/>
          </a:xfrm>
          <a:prstGeom prst="cloud">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13048" y="3200400"/>
            <a:ext cx="1755647" cy="731520"/>
          </a:xfrm>
          <a:prstGeom prst="rect">
            <a:avLst/>
          </a:prstGeom>
          <a:noFill/>
        </p:spPr>
        <p:txBody>
          <a:bodyPr wrap="square" lIns="0" rIns="0" tIns="0" bIns="0" anchor="t">
            <a:spAutoFit/>
          </a:bodyPr>
          <a:lstStyle/>
          <a:p>
            <a:pPr algn="l"/>
            <a:r>
              <a:rPr sz="2200" b="1" i="0">
                <a:solidFill>
                  <a:srgbClr val="1F2933"/>
                </a:solidFill>
                <a:latin typeface="Calibri"/>
              </a:rPr>
              <a:t>A model key</a:t>
            </a:r>
          </a:p>
        </p:txBody>
      </p:sp>
      <p:sp>
        <p:nvSpPr>
          <p:cNvPr id="14" name="TextBox 13"/>
          <p:cNvSpPr txBox="1"/>
          <p:nvPr/>
        </p:nvSpPr>
        <p:spPr>
          <a:xfrm>
            <a:off x="3813048" y="3931920"/>
            <a:ext cx="1755647" cy="1371600"/>
          </a:xfrm>
          <a:prstGeom prst="rect">
            <a:avLst/>
          </a:prstGeom>
          <a:noFill/>
        </p:spPr>
        <p:txBody>
          <a:bodyPr wrap="square" lIns="0" rIns="0" tIns="0" bIns="0" anchor="t">
            <a:spAutoFit/>
          </a:bodyPr>
          <a:lstStyle/>
          <a:p>
            <a:pPr algn="l"/>
            <a:r>
              <a:rPr sz="1700" b="0" i="0">
                <a:solidFill>
                  <a:srgbClr val="1F2933"/>
                </a:solidFill>
                <a:latin typeface="Calibri"/>
              </a:rPr>
              <a:t>Gemini or Vertex AI, in .env. Anthropic is optional (lesson 16).</a:t>
            </a:r>
          </a:p>
        </p:txBody>
      </p:sp>
      <p:sp>
        <p:nvSpPr>
          <p:cNvPr id="15" name="Rounded Rectangle 14"/>
          <p:cNvSpPr/>
          <p:nvPr/>
        </p:nvSpPr>
        <p:spPr>
          <a:xfrm>
            <a:off x="6254496" y="1828800"/>
            <a:ext cx="2487168"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620256" y="2194560"/>
            <a:ext cx="777240" cy="77724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ube 16"/>
          <p:cNvSpPr/>
          <p:nvPr/>
        </p:nvSpPr>
        <p:spPr>
          <a:xfrm>
            <a:off x="6814566" y="2388870"/>
            <a:ext cx="388620" cy="388620"/>
          </a:xfrm>
          <a:prstGeom prst="cub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20256" y="3200400"/>
            <a:ext cx="1755647" cy="731520"/>
          </a:xfrm>
          <a:prstGeom prst="rect">
            <a:avLst/>
          </a:prstGeom>
          <a:noFill/>
        </p:spPr>
        <p:txBody>
          <a:bodyPr wrap="square" lIns="0" rIns="0" tIns="0" bIns="0" anchor="t">
            <a:spAutoFit/>
          </a:bodyPr>
          <a:lstStyle/>
          <a:p>
            <a:pPr algn="l"/>
            <a:r>
              <a:rPr sz="2200" b="1" i="0">
                <a:solidFill>
                  <a:srgbClr val="1F2933"/>
                </a:solidFill>
                <a:latin typeface="Calibri"/>
              </a:rPr>
              <a:t>Docker and Compose</a:t>
            </a:r>
          </a:p>
        </p:txBody>
      </p:sp>
      <p:sp>
        <p:nvSpPr>
          <p:cNvPr id="19" name="TextBox 18"/>
          <p:cNvSpPr txBox="1"/>
          <p:nvPr/>
        </p:nvSpPr>
        <p:spPr>
          <a:xfrm>
            <a:off x="6620256" y="3931920"/>
            <a:ext cx="1755647" cy="1371600"/>
          </a:xfrm>
          <a:prstGeom prst="rect">
            <a:avLst/>
          </a:prstGeom>
          <a:noFill/>
        </p:spPr>
        <p:txBody>
          <a:bodyPr wrap="square" lIns="0" rIns="0" tIns="0" bIns="0" anchor="t">
            <a:spAutoFit/>
          </a:bodyPr>
          <a:lstStyle/>
          <a:p>
            <a:pPr algn="l"/>
            <a:r>
              <a:rPr sz="1700" b="0" i="0">
                <a:solidFill>
                  <a:srgbClr val="1F2933"/>
                </a:solidFill>
                <a:latin typeface="Calibri"/>
              </a:rPr>
              <a:t>Only for the fleet lesson, 28b, which comes later.</a:t>
            </a:r>
          </a:p>
        </p:txBody>
      </p:sp>
      <p:sp>
        <p:nvSpPr>
          <p:cNvPr id="20" name="Rounded Rectangle 19"/>
          <p:cNvSpPr/>
          <p:nvPr/>
        </p:nvSpPr>
        <p:spPr>
          <a:xfrm>
            <a:off x="9061703" y="1828800"/>
            <a:ext cx="2487168"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427463" y="2194560"/>
            <a:ext cx="777240" cy="77724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ocument 21"/>
          <p:cNvSpPr/>
          <p:nvPr/>
        </p:nvSpPr>
        <p:spPr>
          <a:xfrm>
            <a:off x="9621774" y="2388870"/>
            <a:ext cx="388620" cy="388620"/>
          </a:xfrm>
          <a:prstGeom prst="flowChartDocumen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27463" y="3200400"/>
            <a:ext cx="1755647" cy="731520"/>
          </a:xfrm>
          <a:prstGeom prst="rect">
            <a:avLst/>
          </a:prstGeom>
          <a:noFill/>
        </p:spPr>
        <p:txBody>
          <a:bodyPr wrap="square" lIns="0" rIns="0" tIns="0" bIns="0" anchor="t">
            <a:spAutoFit/>
          </a:bodyPr>
          <a:lstStyle/>
          <a:p>
            <a:pPr algn="l"/>
            <a:r>
              <a:rPr sz="2200" b="1" i="0">
                <a:solidFill>
                  <a:srgbClr val="1F2933"/>
                </a:solidFill>
                <a:latin typeface="Calibri"/>
              </a:rPr>
              <a:t>git</a:t>
            </a:r>
          </a:p>
        </p:txBody>
      </p:sp>
      <p:sp>
        <p:nvSpPr>
          <p:cNvPr id="24" name="TextBox 23"/>
          <p:cNvSpPr txBox="1"/>
          <p:nvPr/>
        </p:nvSpPr>
        <p:spPr>
          <a:xfrm>
            <a:off x="9427463" y="3931920"/>
            <a:ext cx="1755647" cy="1371600"/>
          </a:xfrm>
          <a:prstGeom prst="rect">
            <a:avLst/>
          </a:prstGeom>
          <a:noFill/>
        </p:spPr>
        <p:txBody>
          <a:bodyPr wrap="square" lIns="0" rIns="0" tIns="0" bIns="0" anchor="t">
            <a:spAutoFit/>
          </a:bodyPr>
          <a:lstStyle/>
          <a:p>
            <a:pPr algn="l"/>
            <a:r>
              <a:rPr sz="1700" b="0" i="0">
                <a:solidFill>
                  <a:srgbClr val="1F2933"/>
                </a:solidFill>
                <a:latin typeface="Calibri"/>
              </a:rPr>
              <a:t>Lessons 11, 12 and 21 use 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Each chapter ends in a checkpoint that proves it</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12</a:t>
            </a:r>
          </a:p>
        </p:txBody>
      </p:sp>
      <p:sp>
        <p:nvSpPr>
          <p:cNvPr id="5" name="Rounded Rectangle 4"/>
          <p:cNvSpPr/>
          <p:nvPr/>
        </p:nvSpPr>
        <p:spPr>
          <a:xfrm>
            <a:off x="594359" y="2514600"/>
            <a:ext cx="3453383"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4400"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1</a:t>
            </a:r>
          </a:p>
        </p:txBody>
      </p:sp>
      <p:cxnSp>
        <p:nvCxnSpPr>
          <p:cNvPr id="8" name="Connector 7"/>
          <p:cNvCxnSpPr/>
          <p:nvPr/>
        </p:nvCxnSpPr>
        <p:spPr>
          <a:xfrm>
            <a:off x="1828800" y="2240280"/>
            <a:ext cx="2767584" cy="0"/>
          </a:xfrm>
          <a:prstGeom prst="line">
            <a:avLst/>
          </a:prstGeom>
          <a:ln w="25400">
            <a:solidFill>
              <a:srgbClr val="4F46E5"/>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914400" y="2926080"/>
            <a:ext cx="2813303" cy="822960"/>
          </a:xfrm>
          <a:prstGeom prst="rect">
            <a:avLst/>
          </a:prstGeom>
          <a:noFill/>
        </p:spPr>
        <p:txBody>
          <a:bodyPr wrap="square" lIns="0" rIns="0" tIns="0" bIns="0" anchor="t">
            <a:spAutoFit/>
          </a:bodyPr>
          <a:lstStyle/>
          <a:p>
            <a:pPr algn="l"/>
            <a:r>
              <a:rPr sz="2100" b="1" i="0">
                <a:solidFill>
                  <a:srgbClr val="1F2933"/>
                </a:solidFill>
                <a:latin typeface="Calibri"/>
              </a:rPr>
              <a:t>Checkpoint</a:t>
            </a:r>
          </a:p>
        </p:txBody>
      </p:sp>
      <p:sp>
        <p:nvSpPr>
          <p:cNvPr id="10" name="TextBox 9"/>
          <p:cNvSpPr txBox="1"/>
          <p:nvPr/>
        </p:nvSpPr>
        <p:spPr>
          <a:xfrm>
            <a:off x="914400" y="3840480"/>
            <a:ext cx="2813303" cy="1280160"/>
          </a:xfrm>
          <a:prstGeom prst="rect">
            <a:avLst/>
          </a:prstGeom>
          <a:noFill/>
        </p:spPr>
        <p:txBody>
          <a:bodyPr wrap="square" lIns="0" rIns="0" tIns="0" bIns="0" anchor="t">
            <a:spAutoFit/>
          </a:bodyPr>
          <a:lstStyle/>
          <a:p>
            <a:pPr algn="l"/>
            <a:r>
              <a:rPr sz="1700" b="0" i="0">
                <a:solidFill>
                  <a:srgbClr val="1F2933"/>
                </a:solidFill>
                <a:latin typeface="Calibri"/>
              </a:rPr>
              <a:t>Lessons 08 and 18 each run a real loop, end to end.</a:t>
            </a:r>
          </a:p>
        </p:txBody>
      </p:sp>
      <p:sp>
        <p:nvSpPr>
          <p:cNvPr id="11" name="Rounded Rectangle 10"/>
          <p:cNvSpPr/>
          <p:nvPr/>
        </p:nvSpPr>
        <p:spPr>
          <a:xfrm>
            <a:off x="4367784" y="2514600"/>
            <a:ext cx="3453383"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687823"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87823"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2</a:t>
            </a:r>
          </a:p>
        </p:txBody>
      </p:sp>
      <p:cxnSp>
        <p:nvCxnSpPr>
          <p:cNvPr id="14" name="Connector 13"/>
          <p:cNvCxnSpPr/>
          <p:nvPr/>
        </p:nvCxnSpPr>
        <p:spPr>
          <a:xfrm>
            <a:off x="5602223" y="2240280"/>
            <a:ext cx="2767584" cy="0"/>
          </a:xfrm>
          <a:prstGeom prst="line">
            <a:avLst/>
          </a:prstGeom>
          <a:ln w="25400">
            <a:solidFill>
              <a:srgbClr val="4F46E5"/>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687823" y="2926080"/>
            <a:ext cx="2813303" cy="822960"/>
          </a:xfrm>
          <a:prstGeom prst="rect">
            <a:avLst/>
          </a:prstGeom>
          <a:noFill/>
        </p:spPr>
        <p:txBody>
          <a:bodyPr wrap="square" lIns="0" rIns="0" tIns="0" bIns="0" anchor="t">
            <a:spAutoFit/>
          </a:bodyPr>
          <a:lstStyle/>
          <a:p>
            <a:pPr algn="l"/>
            <a:r>
              <a:rPr sz="2100" b="1" i="0">
                <a:solidFill>
                  <a:srgbClr val="1F2933"/>
                </a:solidFill>
                <a:latin typeface="Calibri"/>
              </a:rPr>
              <a:t>Interview line</a:t>
            </a:r>
          </a:p>
        </p:txBody>
      </p:sp>
      <p:sp>
        <p:nvSpPr>
          <p:cNvPr id="16" name="TextBox 15"/>
          <p:cNvSpPr txBox="1"/>
          <p:nvPr/>
        </p:nvSpPr>
        <p:spPr>
          <a:xfrm>
            <a:off x="4687823" y="3840480"/>
            <a:ext cx="2813303" cy="1280160"/>
          </a:xfrm>
          <a:prstGeom prst="rect">
            <a:avLst/>
          </a:prstGeom>
          <a:noFill/>
        </p:spPr>
        <p:txBody>
          <a:bodyPr wrap="square" lIns="0" rIns="0" tIns="0" bIns="0" anchor="t">
            <a:spAutoFit/>
          </a:bodyPr>
          <a:lstStyle/>
          <a:p>
            <a:pPr algn="l"/>
            <a:r>
              <a:rPr sz="1700" b="0" i="0">
                <a:solidFill>
                  <a:srgbClr val="1F2933"/>
                </a:solidFill>
                <a:latin typeface="Calibri"/>
              </a:rPr>
              <a:t>Each core lesson ends with one question to answer.</a:t>
            </a:r>
          </a:p>
        </p:txBody>
      </p:sp>
      <p:sp>
        <p:nvSpPr>
          <p:cNvPr id="17" name="Rounded Rectangle 16"/>
          <p:cNvSpPr/>
          <p:nvPr/>
        </p:nvSpPr>
        <p:spPr>
          <a:xfrm>
            <a:off x="8141207" y="2514600"/>
            <a:ext cx="3453383"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461247"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61247"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3</a:t>
            </a:r>
          </a:p>
        </p:txBody>
      </p:sp>
      <p:sp>
        <p:nvSpPr>
          <p:cNvPr id="20" name="TextBox 19"/>
          <p:cNvSpPr txBox="1"/>
          <p:nvPr/>
        </p:nvSpPr>
        <p:spPr>
          <a:xfrm>
            <a:off x="8461247" y="2926080"/>
            <a:ext cx="2813303" cy="822960"/>
          </a:xfrm>
          <a:prstGeom prst="rect">
            <a:avLst/>
          </a:prstGeom>
          <a:noFill/>
        </p:spPr>
        <p:txBody>
          <a:bodyPr wrap="square" lIns="0" rIns="0" tIns="0" bIns="0" anchor="t">
            <a:spAutoFit/>
          </a:bodyPr>
          <a:lstStyle/>
          <a:p>
            <a:pPr algn="l"/>
            <a:r>
              <a:rPr sz="2100" b="1" i="0">
                <a:solidFill>
                  <a:srgbClr val="1F2933"/>
                </a:solidFill>
                <a:latin typeface="Calibri"/>
              </a:rPr>
              <a:t>Machine check</a:t>
            </a:r>
          </a:p>
        </p:txBody>
      </p:sp>
      <p:sp>
        <p:nvSpPr>
          <p:cNvPr id="21" name="TextBox 20"/>
          <p:cNvSpPr txBox="1"/>
          <p:nvPr/>
        </p:nvSpPr>
        <p:spPr>
          <a:xfrm>
            <a:off x="8461247" y="3840480"/>
            <a:ext cx="2813303" cy="1280160"/>
          </a:xfrm>
          <a:prstGeom prst="rect">
            <a:avLst/>
          </a:prstGeom>
          <a:noFill/>
        </p:spPr>
        <p:txBody>
          <a:bodyPr wrap="square" lIns="0" rIns="0" tIns="0" bIns="0" anchor="t">
            <a:spAutoFit/>
          </a:bodyPr>
          <a:lstStyle/>
          <a:p>
            <a:pPr algn="l"/>
            <a:r>
              <a:rPr sz="1700" b="0" i="0">
                <a:solidFill>
                  <a:srgbClr val="1F2933"/>
                </a:solidFill>
                <a:latin typeface="Calibri"/>
              </a:rPr>
              <a:t>A test or gate decides pass or fail, not the model's word.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Words you will hear, in plain English</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13</a:t>
            </a:r>
          </a:p>
        </p:txBody>
      </p:sp>
      <p:sp>
        <p:nvSpPr>
          <p:cNvPr id="5" name="Rounded Rectangle 4"/>
          <p:cNvSpPr/>
          <p:nvPr/>
        </p:nvSpPr>
        <p:spPr>
          <a:xfrm>
            <a:off x="640080" y="1600200"/>
            <a:ext cx="5349240" cy="1219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19" y="1783080"/>
            <a:ext cx="4754880" cy="457200"/>
          </a:xfrm>
          <a:prstGeom prst="rect">
            <a:avLst/>
          </a:prstGeom>
          <a:noFill/>
        </p:spPr>
        <p:txBody>
          <a:bodyPr wrap="square" lIns="0" rIns="0" tIns="0" bIns="0" anchor="t">
            <a:spAutoFit/>
          </a:bodyPr>
          <a:lstStyle/>
          <a:p>
            <a:pPr algn="l"/>
            <a:r>
              <a:rPr sz="2200" b="1" i="0">
                <a:solidFill>
                  <a:srgbClr val="4F46E5"/>
                </a:solidFill>
                <a:latin typeface="Calibri"/>
              </a:rPr>
              <a:t>Turn</a:t>
            </a:r>
          </a:p>
        </p:txBody>
      </p:sp>
      <p:sp>
        <p:nvSpPr>
          <p:cNvPr id="7" name="TextBox 6"/>
          <p:cNvSpPr txBox="1"/>
          <p:nvPr/>
        </p:nvSpPr>
        <p:spPr>
          <a:xfrm>
            <a:off x="960119" y="2286000"/>
            <a:ext cx="4754880" cy="396239"/>
          </a:xfrm>
          <a:prstGeom prst="rect">
            <a:avLst/>
          </a:prstGeom>
          <a:noFill/>
        </p:spPr>
        <p:txBody>
          <a:bodyPr wrap="square" lIns="0" rIns="0" tIns="0" bIns="0" anchor="t">
            <a:spAutoFit/>
          </a:bodyPr>
          <a:lstStyle/>
          <a:p>
            <a:pPr algn="l"/>
            <a:r>
              <a:rPr sz="1800" b="0" i="0">
                <a:solidFill>
                  <a:srgbClr val="1F2933"/>
                </a:solidFill>
                <a:latin typeface="Calibri"/>
              </a:rPr>
              <a:t>one model call in a run</a:t>
            </a:r>
          </a:p>
        </p:txBody>
      </p:sp>
      <p:sp>
        <p:nvSpPr>
          <p:cNvPr id="8" name="Rounded Rectangle 7"/>
          <p:cNvSpPr/>
          <p:nvPr/>
        </p:nvSpPr>
        <p:spPr>
          <a:xfrm>
            <a:off x="6217920" y="1600200"/>
            <a:ext cx="5349240" cy="1219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59" y="1783080"/>
            <a:ext cx="4754880" cy="457200"/>
          </a:xfrm>
          <a:prstGeom prst="rect">
            <a:avLst/>
          </a:prstGeom>
          <a:noFill/>
        </p:spPr>
        <p:txBody>
          <a:bodyPr wrap="square" lIns="0" rIns="0" tIns="0" bIns="0" anchor="t">
            <a:spAutoFit/>
          </a:bodyPr>
          <a:lstStyle/>
          <a:p>
            <a:pPr algn="l"/>
            <a:r>
              <a:rPr sz="2200" b="1" i="0">
                <a:solidFill>
                  <a:srgbClr val="4F46E5"/>
                </a:solidFill>
                <a:latin typeface="Calibri"/>
              </a:rPr>
              <a:t>Verifier</a:t>
            </a:r>
          </a:p>
        </p:txBody>
      </p:sp>
      <p:sp>
        <p:nvSpPr>
          <p:cNvPr id="10" name="TextBox 9"/>
          <p:cNvSpPr txBox="1"/>
          <p:nvPr/>
        </p:nvSpPr>
        <p:spPr>
          <a:xfrm>
            <a:off x="6537959" y="2286000"/>
            <a:ext cx="4754880" cy="396239"/>
          </a:xfrm>
          <a:prstGeom prst="rect">
            <a:avLst/>
          </a:prstGeom>
          <a:noFill/>
        </p:spPr>
        <p:txBody>
          <a:bodyPr wrap="square" lIns="0" rIns="0" tIns="0" bIns="0" anchor="t">
            <a:spAutoFit/>
          </a:bodyPr>
          <a:lstStyle/>
          <a:p>
            <a:pPr algn="l"/>
            <a:r>
              <a:rPr sz="1800" b="0" i="0">
                <a:solidFill>
                  <a:srgbClr val="1F2933"/>
                </a:solidFill>
                <a:latin typeface="Calibri"/>
              </a:rPr>
              <a:t>a check that decides done</a:t>
            </a:r>
          </a:p>
        </p:txBody>
      </p:sp>
      <p:sp>
        <p:nvSpPr>
          <p:cNvPr id="11" name="Rounded Rectangle 10"/>
          <p:cNvSpPr/>
          <p:nvPr/>
        </p:nvSpPr>
        <p:spPr>
          <a:xfrm>
            <a:off x="640080" y="3002280"/>
            <a:ext cx="5349240" cy="1219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19" y="3185160"/>
            <a:ext cx="4754880" cy="457200"/>
          </a:xfrm>
          <a:prstGeom prst="rect">
            <a:avLst/>
          </a:prstGeom>
          <a:noFill/>
        </p:spPr>
        <p:txBody>
          <a:bodyPr wrap="square" lIns="0" rIns="0" tIns="0" bIns="0" anchor="t">
            <a:spAutoFit/>
          </a:bodyPr>
          <a:lstStyle/>
          <a:p>
            <a:pPr algn="l"/>
            <a:r>
              <a:rPr sz="2200" b="1" i="0">
                <a:solidFill>
                  <a:srgbClr val="4F46E5"/>
                </a:solidFill>
                <a:latin typeface="Calibri"/>
              </a:rPr>
              <a:t>Observation</a:t>
            </a:r>
          </a:p>
        </p:txBody>
      </p:sp>
      <p:sp>
        <p:nvSpPr>
          <p:cNvPr id="13" name="TextBox 12"/>
          <p:cNvSpPr txBox="1"/>
          <p:nvPr/>
        </p:nvSpPr>
        <p:spPr>
          <a:xfrm>
            <a:off x="960119" y="3688080"/>
            <a:ext cx="4754880" cy="396239"/>
          </a:xfrm>
          <a:prstGeom prst="rect">
            <a:avLst/>
          </a:prstGeom>
          <a:noFill/>
        </p:spPr>
        <p:txBody>
          <a:bodyPr wrap="square" lIns="0" rIns="0" tIns="0" bIns="0" anchor="t">
            <a:spAutoFit/>
          </a:bodyPr>
          <a:lstStyle/>
          <a:p>
            <a:pPr algn="l"/>
            <a:r>
              <a:rPr sz="1800" b="0" i="0">
                <a:solidFill>
                  <a:srgbClr val="1F2933"/>
                </a:solidFill>
                <a:latin typeface="Calibri"/>
              </a:rPr>
              <a:t>a tool's result, read by the model</a:t>
            </a:r>
          </a:p>
        </p:txBody>
      </p:sp>
      <p:sp>
        <p:nvSpPr>
          <p:cNvPr id="14" name="Rounded Rectangle 13"/>
          <p:cNvSpPr/>
          <p:nvPr/>
        </p:nvSpPr>
        <p:spPr>
          <a:xfrm>
            <a:off x="6217920" y="3002280"/>
            <a:ext cx="5349240" cy="1219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59" y="3185160"/>
            <a:ext cx="4754880" cy="457200"/>
          </a:xfrm>
          <a:prstGeom prst="rect">
            <a:avLst/>
          </a:prstGeom>
          <a:noFill/>
        </p:spPr>
        <p:txBody>
          <a:bodyPr wrap="square" lIns="0" rIns="0" tIns="0" bIns="0" anchor="t">
            <a:spAutoFit/>
          </a:bodyPr>
          <a:lstStyle/>
          <a:p>
            <a:pPr algn="l"/>
            <a:r>
              <a:rPr sz="2200" b="1" i="0">
                <a:solidFill>
                  <a:srgbClr val="4F46E5"/>
                </a:solidFill>
                <a:latin typeface="Calibri"/>
              </a:rPr>
              <a:t>Harness</a:t>
            </a:r>
          </a:p>
        </p:txBody>
      </p:sp>
      <p:sp>
        <p:nvSpPr>
          <p:cNvPr id="16" name="TextBox 15"/>
          <p:cNvSpPr txBox="1"/>
          <p:nvPr/>
        </p:nvSpPr>
        <p:spPr>
          <a:xfrm>
            <a:off x="6537959" y="3688080"/>
            <a:ext cx="4754880" cy="396239"/>
          </a:xfrm>
          <a:prstGeom prst="rect">
            <a:avLst/>
          </a:prstGeom>
          <a:noFill/>
        </p:spPr>
        <p:txBody>
          <a:bodyPr wrap="square" lIns="0" rIns="0" tIns="0" bIns="0" anchor="t">
            <a:spAutoFit/>
          </a:bodyPr>
          <a:lstStyle/>
          <a:p>
            <a:pPr algn="l"/>
            <a:r>
              <a:rPr sz="1800" b="0" i="0">
                <a:solidFill>
                  <a:srgbClr val="1F2933"/>
                </a:solidFill>
                <a:latin typeface="Calibri"/>
              </a:rPr>
              <a:t>a run's tools, permissions and sandbox</a:t>
            </a:r>
          </a:p>
        </p:txBody>
      </p:sp>
      <p:sp>
        <p:nvSpPr>
          <p:cNvPr id="17" name="Rounded Rectangle 16"/>
          <p:cNvSpPr/>
          <p:nvPr/>
        </p:nvSpPr>
        <p:spPr>
          <a:xfrm>
            <a:off x="640080" y="4404360"/>
            <a:ext cx="5349240" cy="1219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19" y="4587240"/>
            <a:ext cx="4754880" cy="457200"/>
          </a:xfrm>
          <a:prstGeom prst="rect">
            <a:avLst/>
          </a:prstGeom>
          <a:noFill/>
        </p:spPr>
        <p:txBody>
          <a:bodyPr wrap="square" lIns="0" rIns="0" tIns="0" bIns="0" anchor="t">
            <a:spAutoFit/>
          </a:bodyPr>
          <a:lstStyle/>
          <a:p>
            <a:pPr algn="l"/>
            <a:r>
              <a:rPr sz="2200" b="1" i="0">
                <a:solidFill>
                  <a:srgbClr val="4F46E5"/>
                </a:solidFill>
                <a:latin typeface="Calibri"/>
              </a:rPr>
              <a:t>Handoff</a:t>
            </a:r>
          </a:p>
        </p:txBody>
      </p:sp>
      <p:sp>
        <p:nvSpPr>
          <p:cNvPr id="19" name="TextBox 18"/>
          <p:cNvSpPr txBox="1"/>
          <p:nvPr/>
        </p:nvSpPr>
        <p:spPr>
          <a:xfrm>
            <a:off x="960119" y="5090160"/>
            <a:ext cx="4754880" cy="396239"/>
          </a:xfrm>
          <a:prstGeom prst="rect">
            <a:avLst/>
          </a:prstGeom>
          <a:noFill/>
        </p:spPr>
        <p:txBody>
          <a:bodyPr wrap="square" lIns="0" rIns="0" tIns="0" bIns="0" anchor="t">
            <a:spAutoFit/>
          </a:bodyPr>
          <a:lstStyle/>
          <a:p>
            <a:pPr algn="l"/>
            <a:r>
              <a:rPr sz="1800" b="0" i="0">
                <a:solidFill>
                  <a:srgbClr val="1F2933"/>
                </a:solidFill>
                <a:latin typeface="Calibri"/>
              </a:rPr>
              <a:t>the case goes to a person</a:t>
            </a:r>
          </a:p>
        </p:txBody>
      </p:sp>
      <p:sp>
        <p:nvSpPr>
          <p:cNvPr id="20" name="Rounded Rectangle 19"/>
          <p:cNvSpPr/>
          <p:nvPr/>
        </p:nvSpPr>
        <p:spPr>
          <a:xfrm>
            <a:off x="6217920" y="4404360"/>
            <a:ext cx="5349240" cy="1219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37959" y="4587240"/>
            <a:ext cx="4754880" cy="457200"/>
          </a:xfrm>
          <a:prstGeom prst="rect">
            <a:avLst/>
          </a:prstGeom>
          <a:noFill/>
        </p:spPr>
        <p:txBody>
          <a:bodyPr wrap="square" lIns="0" rIns="0" tIns="0" bIns="0" anchor="t">
            <a:spAutoFit/>
          </a:bodyPr>
          <a:lstStyle/>
          <a:p>
            <a:pPr algn="l"/>
            <a:r>
              <a:rPr sz="2200" b="1" i="0">
                <a:solidFill>
                  <a:srgbClr val="4F46E5"/>
                </a:solidFill>
                <a:latin typeface="Calibri"/>
              </a:rPr>
              <a:t>Idempotent</a:t>
            </a:r>
          </a:p>
        </p:txBody>
      </p:sp>
      <p:sp>
        <p:nvSpPr>
          <p:cNvPr id="22" name="TextBox 21"/>
          <p:cNvSpPr txBox="1"/>
          <p:nvPr/>
        </p:nvSpPr>
        <p:spPr>
          <a:xfrm>
            <a:off x="6537959" y="5090160"/>
            <a:ext cx="4754880" cy="396239"/>
          </a:xfrm>
          <a:prstGeom prst="rect">
            <a:avLst/>
          </a:prstGeom>
          <a:noFill/>
        </p:spPr>
        <p:txBody>
          <a:bodyPr wrap="square" lIns="0" rIns="0" tIns="0" bIns="0" anchor="t">
            <a:spAutoFit/>
          </a:bodyPr>
          <a:lstStyle/>
          <a:p>
            <a:pPr algn="l"/>
            <a:r>
              <a:rPr sz="1800" b="0" i="0">
                <a:solidFill>
                  <a:srgbClr val="1F2933"/>
                </a:solidFill>
                <a:latin typeface="Calibri"/>
              </a:rPr>
              <a:t>same request twice, same effect once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Questions you will answer by the end</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14</a:t>
            </a:r>
          </a:p>
        </p:txBody>
      </p:sp>
      <p:sp>
        <p:nvSpPr>
          <p:cNvPr id="5" name="Oval 4"/>
          <p:cNvSpPr/>
          <p:nvPr/>
        </p:nvSpPr>
        <p:spPr>
          <a:xfrm>
            <a:off x="640080" y="1783080"/>
            <a:ext cx="914400" cy="91440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Callout 5"/>
          <p:cNvSpPr/>
          <p:nvPr/>
        </p:nvSpPr>
        <p:spPr>
          <a:xfrm>
            <a:off x="868680" y="2011680"/>
            <a:ext cx="457200" cy="457200"/>
          </a:xfrm>
          <a:prstGeom prst="wedgeEllipseCallou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11680" y="1783080"/>
            <a:ext cx="548640" cy="548640"/>
          </a:xfrm>
          <a:prstGeom prst="rect">
            <a:avLst/>
          </a:prstGeom>
          <a:noFill/>
        </p:spPr>
        <p:txBody>
          <a:bodyPr wrap="square" lIns="0" rIns="0" tIns="0" bIns="0" anchor="t">
            <a:spAutoFit/>
          </a:bodyPr>
          <a:lstStyle/>
          <a:p>
            <a:pPr algn="l"/>
            <a:r>
              <a:rPr sz="2200" b="1" i="0">
                <a:solidFill>
                  <a:srgbClr val="4F46E5"/>
                </a:solidFill>
                <a:latin typeface="Calibri"/>
              </a:rPr>
              <a:t>1</a:t>
            </a:r>
          </a:p>
        </p:txBody>
      </p:sp>
      <p:sp>
        <p:nvSpPr>
          <p:cNvPr id="8" name="TextBox 7"/>
          <p:cNvSpPr txBox="1"/>
          <p:nvPr/>
        </p:nvSpPr>
        <p:spPr>
          <a:xfrm>
            <a:off x="2560320" y="1810512"/>
            <a:ext cx="8961120" cy="731520"/>
          </a:xfrm>
          <a:prstGeom prst="rect">
            <a:avLst/>
          </a:prstGeom>
          <a:noFill/>
        </p:spPr>
        <p:txBody>
          <a:bodyPr wrap="square" lIns="0" rIns="0" tIns="0" bIns="0" anchor="t">
            <a:spAutoFit/>
          </a:bodyPr>
          <a:lstStyle/>
          <a:p>
            <a:pPr algn="l"/>
            <a:r>
              <a:rPr sz="1900" b="0" i="0">
                <a:solidFill>
                  <a:srgbClr val="1F2933"/>
                </a:solidFill>
                <a:latin typeface="Calibri"/>
              </a:rPr>
              <a:t>What stops your loop, and at which cap?</a:t>
            </a:r>
          </a:p>
        </p:txBody>
      </p:sp>
      <p:sp>
        <p:nvSpPr>
          <p:cNvPr id="9" name="TextBox 8"/>
          <p:cNvSpPr txBox="1"/>
          <p:nvPr/>
        </p:nvSpPr>
        <p:spPr>
          <a:xfrm>
            <a:off x="2011680" y="2624328"/>
            <a:ext cx="548640" cy="548640"/>
          </a:xfrm>
          <a:prstGeom prst="rect">
            <a:avLst/>
          </a:prstGeom>
          <a:noFill/>
        </p:spPr>
        <p:txBody>
          <a:bodyPr wrap="square" lIns="0" rIns="0" tIns="0" bIns="0" anchor="t">
            <a:spAutoFit/>
          </a:bodyPr>
          <a:lstStyle/>
          <a:p>
            <a:pPr algn="l"/>
            <a:r>
              <a:rPr sz="2200" b="1" i="0">
                <a:solidFill>
                  <a:srgbClr val="4F46E5"/>
                </a:solidFill>
                <a:latin typeface="Calibri"/>
              </a:rPr>
              <a:t>2</a:t>
            </a:r>
          </a:p>
        </p:txBody>
      </p:sp>
      <p:sp>
        <p:nvSpPr>
          <p:cNvPr id="10" name="TextBox 9"/>
          <p:cNvSpPr txBox="1"/>
          <p:nvPr/>
        </p:nvSpPr>
        <p:spPr>
          <a:xfrm>
            <a:off x="2560320" y="2651760"/>
            <a:ext cx="8961120" cy="731520"/>
          </a:xfrm>
          <a:prstGeom prst="rect">
            <a:avLst/>
          </a:prstGeom>
          <a:noFill/>
        </p:spPr>
        <p:txBody>
          <a:bodyPr wrap="square" lIns="0" rIns="0" tIns="0" bIns="0" anchor="t">
            <a:spAutoFit/>
          </a:bodyPr>
          <a:lstStyle/>
          <a:p>
            <a:pPr algn="l"/>
            <a:r>
              <a:rPr sz="1900" b="0" i="0">
                <a:solidFill>
                  <a:srgbClr val="1F2933"/>
                </a:solidFill>
                <a:latin typeface="Calibri"/>
              </a:rPr>
              <a:t>How does a machine decide done?</a:t>
            </a:r>
          </a:p>
        </p:txBody>
      </p:sp>
      <p:sp>
        <p:nvSpPr>
          <p:cNvPr id="11" name="TextBox 10"/>
          <p:cNvSpPr txBox="1"/>
          <p:nvPr/>
        </p:nvSpPr>
        <p:spPr>
          <a:xfrm>
            <a:off x="2011680" y="3465576"/>
            <a:ext cx="548640" cy="548640"/>
          </a:xfrm>
          <a:prstGeom prst="rect">
            <a:avLst/>
          </a:prstGeom>
          <a:noFill/>
        </p:spPr>
        <p:txBody>
          <a:bodyPr wrap="square" lIns="0" rIns="0" tIns="0" bIns="0" anchor="t">
            <a:spAutoFit/>
          </a:bodyPr>
          <a:lstStyle/>
          <a:p>
            <a:pPr algn="l"/>
            <a:r>
              <a:rPr sz="2200" b="1" i="0">
                <a:solidFill>
                  <a:srgbClr val="4F46E5"/>
                </a:solidFill>
                <a:latin typeface="Calibri"/>
              </a:rPr>
              <a:t>3</a:t>
            </a:r>
          </a:p>
        </p:txBody>
      </p:sp>
      <p:sp>
        <p:nvSpPr>
          <p:cNvPr id="12" name="TextBox 11"/>
          <p:cNvSpPr txBox="1"/>
          <p:nvPr/>
        </p:nvSpPr>
        <p:spPr>
          <a:xfrm>
            <a:off x="2560320" y="3493008"/>
            <a:ext cx="8961120" cy="731520"/>
          </a:xfrm>
          <a:prstGeom prst="rect">
            <a:avLst/>
          </a:prstGeom>
          <a:noFill/>
        </p:spPr>
        <p:txBody>
          <a:bodyPr wrap="square" lIns="0" rIns="0" tIns="0" bIns="0" anchor="t">
            <a:spAutoFit/>
          </a:bodyPr>
          <a:lstStyle/>
          <a:p>
            <a:pPr algn="l"/>
            <a:r>
              <a:rPr sz="1900" b="0" i="0">
                <a:solidFill>
                  <a:srgbClr val="1F2933"/>
                </a:solidFill>
                <a:latin typeface="Calibri"/>
              </a:rPr>
              <a:t>Which writes need a person first?</a:t>
            </a:r>
          </a:p>
        </p:txBody>
      </p:sp>
      <p:sp>
        <p:nvSpPr>
          <p:cNvPr id="13" name="TextBox 12"/>
          <p:cNvSpPr txBox="1"/>
          <p:nvPr/>
        </p:nvSpPr>
        <p:spPr>
          <a:xfrm>
            <a:off x="2011680" y="4306824"/>
            <a:ext cx="548640" cy="548640"/>
          </a:xfrm>
          <a:prstGeom prst="rect">
            <a:avLst/>
          </a:prstGeom>
          <a:noFill/>
        </p:spPr>
        <p:txBody>
          <a:bodyPr wrap="square" lIns="0" rIns="0" tIns="0" bIns="0" anchor="t">
            <a:spAutoFit/>
          </a:bodyPr>
          <a:lstStyle/>
          <a:p>
            <a:pPr algn="l"/>
            <a:r>
              <a:rPr sz="2200" b="1" i="0">
                <a:solidFill>
                  <a:srgbClr val="4F46E5"/>
                </a:solidFill>
                <a:latin typeface="Calibri"/>
              </a:rPr>
              <a:t>4</a:t>
            </a:r>
          </a:p>
        </p:txBody>
      </p:sp>
      <p:sp>
        <p:nvSpPr>
          <p:cNvPr id="14" name="TextBox 13"/>
          <p:cNvSpPr txBox="1"/>
          <p:nvPr/>
        </p:nvSpPr>
        <p:spPr>
          <a:xfrm>
            <a:off x="2560320" y="4334256"/>
            <a:ext cx="8961120" cy="731520"/>
          </a:xfrm>
          <a:prstGeom prst="rect">
            <a:avLst/>
          </a:prstGeom>
          <a:noFill/>
        </p:spPr>
        <p:txBody>
          <a:bodyPr wrap="square" lIns="0" rIns="0" tIns="0" bIns="0" anchor="t">
            <a:spAutoFit/>
          </a:bodyPr>
          <a:lstStyle/>
          <a:p>
            <a:pPr algn="l"/>
            <a:r>
              <a:rPr sz="1900" b="0" i="0">
                <a:solidFill>
                  <a:srgbClr val="1F2933"/>
                </a:solidFill>
                <a:latin typeface="Calibri"/>
              </a:rPr>
              <a:t>What survives a crash, and what repeats?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Next: lesson 01, then 02</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AI loop engineering: from zero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15</a:t>
            </a:r>
          </a:p>
        </p:txBody>
      </p:sp>
      <p:sp>
        <p:nvSpPr>
          <p:cNvPr id="5" name="Rounded Rectangle 4"/>
          <p:cNvSpPr/>
          <p:nvPr/>
        </p:nvSpPr>
        <p:spPr>
          <a:xfrm>
            <a:off x="640080" y="2103120"/>
            <a:ext cx="10908792" cy="274320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88720" y="2834640"/>
            <a:ext cx="1280160" cy="12801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ight Arrow 6"/>
          <p:cNvSpPr/>
          <p:nvPr/>
        </p:nvSpPr>
        <p:spPr>
          <a:xfrm>
            <a:off x="1508760" y="3154680"/>
            <a:ext cx="640080" cy="640080"/>
          </a:xfrm>
          <a:prstGeom prst="rightArrow">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26080" y="2286000"/>
            <a:ext cx="8229600" cy="2377440"/>
          </a:xfrm>
          <a:prstGeom prst="rect">
            <a:avLst/>
          </a:prstGeom>
          <a:noFill/>
        </p:spPr>
        <p:txBody>
          <a:bodyPr wrap="square" lIns="0" rIns="0" tIns="0" bIns="0" anchor="ctr">
            <a:spAutoFit/>
          </a:bodyPr>
          <a:lstStyle/>
          <a:p>
            <a:pPr algn="l"/>
            <a:r>
              <a:rPr sz="3200" b="1" i="0">
                <a:solidFill>
                  <a:srgbClr val="1F2933"/>
                </a:solidFill>
                <a:latin typeface="Calibri"/>
              </a:rPr>
              <a:t>Open lesson 01 today; lesson 02 makes your first model call.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loop engineering: from zero to enterprise</dc:title>
  <dc:subject/>
  <dc:creator>Tutorial factory</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